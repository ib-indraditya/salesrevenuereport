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79" d="100"/>
          <a:sy n="79" d="100"/>
        </p:scale>
        <p:origin x="816" y="8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Calibri"/>
              </a:defRPr>
            </a:pPr>
            <a:r>
              <a:rPr lang="en-IN" sz="1300" b="0" i="0" u="none" strike="noStrike">
                <a:solidFill>
                  <a:srgbClr val="000000"/>
                </a:solidFill>
                <a:latin typeface="Calibri"/>
              </a:rPr>
              <a:t>Monthly Revenue Trend (Rs.)</a:t>
            </a:r>
          </a:p>
        </c:rich>
      </c:tx>
      <c:overlay val="0"/>
    </c:title>
    <c:autoTitleDeleted val="0"/>
    <c:plotArea>
      <c:layout/>
      <c:lineChart>
        <c:grouping val="standard"/>
        <c:varyColors val="0"/>
        <c:ser>
          <c:idx val="0"/>
          <c:order val="0"/>
          <c:tx>
            <c:strRef>
              <c:f>Sheet1!$B$1</c:f>
              <c:strCache>
                <c:ptCount val="1"/>
                <c:pt idx="0">
                  <c:v>Revenue</c:v>
                </c:pt>
              </c:strCache>
            </c:strRef>
          </c:tx>
          <c:spPr>
            <a:ln w="3810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Sheet1!$A$2:$A$7</c:f>
              <c:strCache>
                <c:ptCount val="6"/>
                <c:pt idx="0">
                  <c:v>Jan-26</c:v>
                </c:pt>
                <c:pt idx="1">
                  <c:v>Feb-26</c:v>
                </c:pt>
                <c:pt idx="2">
                  <c:v>Mar-26</c:v>
                </c:pt>
                <c:pt idx="3">
                  <c:v>Apr-26</c:v>
                </c:pt>
                <c:pt idx="4">
                  <c:v>May-26</c:v>
                </c:pt>
                <c:pt idx="5">
                  <c:v>Jun-26</c:v>
                </c:pt>
              </c:strCache>
            </c:strRef>
          </c:cat>
          <c:val>
            <c:numRef>
              <c:f>Sheet1!$B$2:$B$7</c:f>
              <c:numCache>
                <c:formatCode>General</c:formatCode>
                <c:ptCount val="6"/>
                <c:pt idx="0">
                  <c:v>742000</c:v>
                </c:pt>
                <c:pt idx="1">
                  <c:v>795000</c:v>
                </c:pt>
                <c:pt idx="2">
                  <c:v>810000</c:v>
                </c:pt>
                <c:pt idx="3">
                  <c:v>731000</c:v>
                </c:pt>
                <c:pt idx="4">
                  <c:v>733000</c:v>
                </c:pt>
                <c:pt idx="5">
                  <c:v>817000</c:v>
                </c:pt>
              </c:numCache>
            </c:numRef>
          </c:val>
          <c:smooth val="0"/>
          <c:extLst>
            <c:ext xmlns:c16="http://schemas.microsoft.com/office/drawing/2014/chart" uri="{C3380CC4-5D6E-409C-BE32-E72D297353CC}">
              <c16:uniqueId val="{00000000-BA80-4EFD-A446-9C68A8F9005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0000"/>
                </a:solidFill>
                <a:latin typeface="Calibri"/>
              </a:defRPr>
            </a:pPr>
            <a:r>
              <a:rPr lang="en-IN" sz="1300" b="0" i="0" u="none" strike="noStrike">
                <a:solidFill>
                  <a:srgbClr val="000000"/>
                </a:solidFill>
                <a:latin typeface="Calibri"/>
              </a:rPr>
              <a:t>Revenue by Region</a:t>
            </a:r>
          </a:p>
        </c:rich>
      </c:tx>
      <c:overlay val="0"/>
    </c:title>
    <c:autoTitleDeleted val="0"/>
    <c:plotArea>
      <c:layout/>
      <c:pieChart>
        <c:varyColors val="1"/>
        <c:ser>
          <c:idx val="0"/>
          <c:order val="0"/>
          <c:tx>
            <c:strRef>
              <c:f>Sheet1!$B$1</c:f>
              <c:strCache>
                <c:ptCount val="1"/>
                <c:pt idx="0">
                  <c:v>Revenue Share</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879B-4010-9841-557E8EEE204F}"/>
              </c:ext>
            </c:extLst>
          </c:dPt>
          <c:dPt>
            <c:idx val="1"/>
            <c:bubble3D val="0"/>
            <c:spPr>
              <a:solidFill>
                <a:srgbClr val="4A5AA0"/>
              </a:solidFill>
              <a:effectLst/>
            </c:spPr>
            <c:extLst>
              <c:ext xmlns:c16="http://schemas.microsoft.com/office/drawing/2014/chart" uri="{C3380CC4-5D6E-409C-BE32-E72D297353CC}">
                <c16:uniqueId val="{00000003-879B-4010-9841-557E8EEE204F}"/>
              </c:ext>
            </c:extLst>
          </c:dPt>
          <c:dPt>
            <c:idx val="2"/>
            <c:bubble3D val="0"/>
            <c:spPr>
              <a:solidFill>
                <a:srgbClr val="B8860B"/>
              </a:solidFill>
              <a:effectLst/>
            </c:spPr>
            <c:extLst>
              <c:ext xmlns:c16="http://schemas.microsoft.com/office/drawing/2014/chart" uri="{C3380CC4-5D6E-409C-BE32-E72D297353CC}">
                <c16:uniqueId val="{00000005-879B-4010-9841-557E8EEE204F}"/>
              </c:ext>
            </c:extLst>
          </c:dPt>
          <c:dPt>
            <c:idx val="3"/>
            <c:bubble3D val="0"/>
            <c:spPr>
              <a:solidFill>
                <a:srgbClr val="CADCFC"/>
              </a:solidFill>
              <a:effectLst/>
            </c:spPr>
            <c:extLst>
              <c:ext xmlns:c16="http://schemas.microsoft.com/office/drawing/2014/chart" uri="{C3380CC4-5D6E-409C-BE32-E72D297353CC}">
                <c16:uniqueId val="{00000007-879B-4010-9841-557E8EEE204F}"/>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79B-4010-9841-557E8EEE204F}"/>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79B-4010-9841-557E8EEE204F}"/>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79B-4010-9841-557E8EEE204F}"/>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79B-4010-9841-557E8EEE204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North</c:v>
                </c:pt>
                <c:pt idx="1">
                  <c:v>South</c:v>
                </c:pt>
                <c:pt idx="2">
                  <c:v>East</c:v>
                </c:pt>
                <c:pt idx="3">
                  <c:v>West</c:v>
                </c:pt>
              </c:strCache>
            </c:strRef>
          </c:cat>
          <c:val>
            <c:numRef>
              <c:f>Sheet1!$B$2:$B$5</c:f>
              <c:numCache>
                <c:formatCode>General</c:formatCode>
                <c:ptCount val="4"/>
                <c:pt idx="0">
                  <c:v>1150000</c:v>
                </c:pt>
                <c:pt idx="1">
                  <c:v>1210000</c:v>
                </c:pt>
                <c:pt idx="2">
                  <c:v>1080000</c:v>
                </c:pt>
                <c:pt idx="3">
                  <c:v>1188000</c:v>
                </c:pt>
              </c:numCache>
            </c:numRef>
          </c:val>
          <c:extLst>
            <c:ext xmlns:c16="http://schemas.microsoft.com/office/drawing/2014/chart" uri="{C3380CC4-5D6E-409C-BE32-E72D297353CC}">
              <c16:uniqueId val="{00000008-879B-4010-9841-557E8EEE204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00000"/>
                </a:solidFill>
                <a:latin typeface="Calibri"/>
              </a:defRPr>
            </a:pPr>
            <a:r>
              <a:rPr lang="en-IN" sz="1200" b="0" i="0" u="none" strike="noStrike">
                <a:solidFill>
                  <a:srgbClr val="000000"/>
                </a:solidFill>
                <a:latin typeface="Calibri"/>
              </a:rPr>
              <a:t>Revenue by Category</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B8860B"/>
            </a:solidFill>
            <a:effectLst/>
          </c:spPr>
          <c:invertIfNegative val="0"/>
          <c:cat>
            <c:strRef>
              <c:f>Sheet1!$A$2:$A$6</c:f>
              <c:strCache>
                <c:ptCount val="5"/>
                <c:pt idx="0">
                  <c:v>Electronics</c:v>
                </c:pt>
                <c:pt idx="1">
                  <c:v>Software</c:v>
                </c:pt>
                <c:pt idx="2">
                  <c:v>Furniture</c:v>
                </c:pt>
                <c:pt idx="3">
                  <c:v>Accessories</c:v>
                </c:pt>
                <c:pt idx="4">
                  <c:v>Office Supplies</c:v>
                </c:pt>
              </c:strCache>
            </c:strRef>
          </c:cat>
          <c:val>
            <c:numRef>
              <c:f>Sheet1!$B$2:$B$6</c:f>
              <c:numCache>
                <c:formatCode>General</c:formatCode>
                <c:ptCount val="5"/>
                <c:pt idx="0">
                  <c:v>1145000</c:v>
                </c:pt>
                <c:pt idx="1">
                  <c:v>1720000</c:v>
                </c:pt>
                <c:pt idx="2">
                  <c:v>980000</c:v>
                </c:pt>
                <c:pt idx="3">
                  <c:v>340000</c:v>
                </c:pt>
                <c:pt idx="4">
                  <c:v>443000</c:v>
                </c:pt>
              </c:numCache>
            </c:numRef>
          </c:val>
          <c:extLst>
            <c:ext xmlns:c16="http://schemas.microsoft.com/office/drawing/2014/chart" uri="{C3380CC4-5D6E-409C-BE32-E72D297353CC}">
              <c16:uniqueId val="{00000000-9517-456D-B97D-A2402DF30E1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796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presenting the Sales Revenue Tracker System -- a project we built to fix how our team logs and reports sales revenue. This is ready for review and rollout.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I'll walk through: the problem we were solving, how the solution works end-to-end, its key features, a live look at the dashboard, the insights it already surfaces from our H1 data, and where we'd take it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sales data lived in personal spreadsheets and WhatsApp updates. That meant no single source of truth, reports that took 3-4 hours to compile every week, and numbers that didn't always match when copy-pasted across sheets. Our objective was simple: one workbook, where the team logs a sale once, and every report updates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works in four steps -- Log, Calculate, Summarize, Report. The team logs a sale in one sheet. Formulas calculate revenue, cost, and profit automatically. Five summary sheets roll that up by month, region, category, and rep. And all of it feeds a single executive dashboard.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flow. Sales_Data is the only place anyone types a new sale. From there, formulas calculate everything, summary sheets roll it up instantly, and the dashboard reflects it in real time. Because it's all formula-linked, there's no manual refresh and no re-typing totals -- add one row, and everything updates.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this system gives us that we didn't have before: centralized data, a live KPI dashboard, regional and category breakdowns, ranked rep scorecards, category analysis, and automatic target tracking.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sale captures 15 fields -- 9 that the team types in, like date, region, and price, and 6 that calculate automatically, like revenue and margin. We've color-coded the workbook so the team only ever edits the blue input cells -- everything else is protected formula logic.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dashboard, live from the workbook. Total revenue, profit margin, and order count update automatically. For H1 2026 so far, we're at Rs. 46.3 lakh in revenue at a 31.9% margin across 220 orders.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the data already tells us: revenue held steady through H1 with a dip in Q2 before recovering in June. South and West are our strongest regions. Software is our top-earning category despite fewer orders -- it has the highest average deal size. And Office Supplies drives the most orders but the smallest revenue share.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before and after. We've gone from hours of manual compilation to zero -- reports are always current. We've gone from no regional visibility to one dashboard showing everything. And we've gone from mismatched numbers to one source of truth that every number traces back 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phase one -- team adoption starting now. Over the next 30 days we'll add data validation and lock the formula cells. In 90 days, we'd like to add customer-level tracking and quarterly forecasting. Longer term, we can explore automating data entry entirely.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system. The workbook and this deck are both ready for your review -- happy to walk through the sheet in more detail or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3" name="Shape 0"/>
          <p:cNvSpPr/>
          <p:nvPr/>
        </p:nvSpPr>
        <p:spPr>
          <a:xfrm>
            <a:off x="9692640" y="-2011680"/>
            <a:ext cx="5486400" cy="5486400"/>
          </a:xfrm>
          <a:prstGeom prst="ellipse">
            <a:avLst/>
          </a:prstGeom>
          <a:solidFill>
            <a:srgbClr val="263572"/>
          </a:solidFill>
          <a:ln/>
        </p:spPr>
      </p:sp>
      <p:sp>
        <p:nvSpPr>
          <p:cNvPr id="4" name="Shape 1"/>
          <p:cNvSpPr/>
          <p:nvPr/>
        </p:nvSpPr>
        <p:spPr>
          <a:xfrm>
            <a:off x="-1828800" y="4389120"/>
            <a:ext cx="4572000" cy="4572000"/>
          </a:xfrm>
          <a:prstGeom prst="ellipse">
            <a:avLst/>
          </a:prstGeom>
          <a:solidFill>
            <a:srgbClr val="263572"/>
          </a:solidFill>
          <a:ln/>
        </p:spPr>
      </p:sp>
      <p:sp>
        <p:nvSpPr>
          <p:cNvPr id="5" name="Text 2"/>
          <p:cNvSpPr/>
          <p:nvPr/>
        </p:nvSpPr>
        <p:spPr>
          <a:xfrm>
            <a:off x="822960" y="1965960"/>
            <a:ext cx="8229600" cy="365760"/>
          </a:xfrm>
          <a:prstGeom prst="rect">
            <a:avLst/>
          </a:prstGeom>
          <a:noFill/>
          <a:ln/>
        </p:spPr>
        <p:txBody>
          <a:bodyPr wrap="square" rtlCol="0" anchor="ctr"/>
          <a:lstStyle/>
          <a:p>
            <a:pPr marL="0" indent="0">
              <a:buNone/>
            </a:pPr>
            <a:r>
              <a:rPr lang="en-US" sz="1300" b="1" kern="0" spc="200" dirty="0">
                <a:solidFill>
                  <a:srgbClr val="B8860B"/>
                </a:solidFill>
                <a:latin typeface="Calibri" pitchFamily="34" charset="0"/>
                <a:ea typeface="Calibri" pitchFamily="34" charset="-122"/>
                <a:cs typeface="Calibri" pitchFamily="34" charset="-120"/>
              </a:rPr>
              <a:t>SALES OPERATIONS  |  H1 2026 PROJECT SUBMISSION</a:t>
            </a:r>
            <a:endParaRPr lang="en-US" sz="1300" dirty="0"/>
          </a:p>
        </p:txBody>
      </p:sp>
      <p:sp>
        <p:nvSpPr>
          <p:cNvPr id="6" name="Text 3"/>
          <p:cNvSpPr/>
          <p:nvPr/>
        </p:nvSpPr>
        <p:spPr>
          <a:xfrm>
            <a:off x="822960" y="237744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Sales Revenue Tracker System</a:t>
            </a:r>
            <a:endParaRPr lang="en-US" sz="4400" dirty="0"/>
          </a:p>
        </p:txBody>
      </p:sp>
      <p:sp>
        <p:nvSpPr>
          <p:cNvPr id="7" name="Text 4"/>
          <p:cNvSpPr/>
          <p:nvPr/>
        </p:nvSpPr>
        <p:spPr>
          <a:xfrm>
            <a:off x="822960" y="3520440"/>
            <a:ext cx="8046720" cy="73152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An end-to-end Excel-based system to log, monitor, and report sales revenue — built for real-time visibility and faster decisions.</a:t>
            </a:r>
            <a:endParaRPr lang="en-US" sz="1500" dirty="0"/>
          </a:p>
        </p:txBody>
      </p:sp>
      <p:sp>
        <p:nvSpPr>
          <p:cNvPr id="8" name="Shape 5"/>
          <p:cNvSpPr/>
          <p:nvPr/>
        </p:nvSpPr>
        <p:spPr>
          <a:xfrm>
            <a:off x="822960" y="4434840"/>
            <a:ext cx="2926080" cy="0"/>
          </a:xfrm>
          <a:prstGeom prst="line">
            <a:avLst/>
          </a:prstGeom>
          <a:noFill/>
          <a:ln w="25400">
            <a:solidFill>
              <a:srgbClr val="B8860B"/>
            </a:solidFill>
            <a:prstDash val="solid"/>
          </a:ln>
        </p:spPr>
      </p:sp>
      <p:sp>
        <p:nvSpPr>
          <p:cNvPr id="9" name="Text 6"/>
          <p:cNvSpPr/>
          <p:nvPr/>
        </p:nvSpPr>
        <p:spPr>
          <a:xfrm>
            <a:off x="822960" y="4709160"/>
            <a:ext cx="6400800" cy="1280160"/>
          </a:xfrm>
          <a:prstGeom prst="rect">
            <a:avLst/>
          </a:prstGeom>
          <a:noFill/>
          <a:ln/>
        </p:spPr>
        <p:txBody>
          <a:bodyPr wrap="square" rtlCol="0" anchor="ctr"/>
          <a:lstStyle/>
          <a:p>
            <a:pPr marL="0" indent="0">
              <a:lnSpc>
                <a:spcPct val="140000"/>
              </a:lnSpc>
              <a:buNone/>
            </a:pPr>
            <a:r>
              <a:rPr lang="en-US" sz="1300" b="1" dirty="0">
                <a:solidFill>
                  <a:srgbClr val="CADCFC"/>
                </a:solidFill>
                <a:latin typeface="Calibri" pitchFamily="34" charset="0"/>
                <a:ea typeface="Calibri" pitchFamily="34" charset="-122"/>
                <a:cs typeface="Calibri" pitchFamily="34" charset="-120"/>
              </a:rPr>
              <a:t>Prepared for: </a:t>
            </a:r>
            <a:r>
              <a:rPr lang="en-US" sz="1300" dirty="0">
                <a:solidFill>
                  <a:srgbClr val="FFFFFF"/>
                </a:solidFill>
                <a:latin typeface="Calibri" pitchFamily="34" charset="0"/>
                <a:ea typeface="Calibri" pitchFamily="34" charset="-122"/>
                <a:cs typeface="Calibri" pitchFamily="34" charset="-120"/>
              </a:rPr>
              <a:t>Sales Manager</a:t>
            </a:r>
            <a:endParaRPr lang="en-US" sz="1300" dirty="0"/>
          </a:p>
          <a:p>
            <a:pPr marL="0" indent="0">
              <a:lnSpc>
                <a:spcPct val="140000"/>
              </a:lnSpc>
              <a:buNone/>
            </a:pPr>
            <a:r>
              <a:rPr lang="en-US" sz="1300" b="1" dirty="0">
                <a:solidFill>
                  <a:srgbClr val="CADCFC"/>
                </a:solidFill>
                <a:latin typeface="Calibri" pitchFamily="34" charset="0"/>
                <a:ea typeface="Calibri" pitchFamily="34" charset="-122"/>
                <a:cs typeface="Calibri" pitchFamily="34" charset="-120"/>
              </a:rPr>
              <a:t>Prepared by: </a:t>
            </a:r>
            <a:r>
              <a:rPr lang="en-US" sz="1300" dirty="0">
                <a:solidFill>
                  <a:srgbClr val="FFFFFF"/>
                </a:solidFill>
                <a:latin typeface="Calibri" pitchFamily="34" charset="0"/>
                <a:ea typeface="Calibri" pitchFamily="34" charset="-122"/>
                <a:cs typeface="Calibri" pitchFamily="34" charset="-120"/>
              </a:rPr>
              <a:t>Sales Operations Team</a:t>
            </a:r>
            <a:endParaRPr lang="en-US" sz="1300" dirty="0"/>
          </a:p>
          <a:p>
            <a:pPr marL="0" indent="0">
              <a:lnSpc>
                <a:spcPct val="140000"/>
              </a:lnSpc>
              <a:buNone/>
            </a:pPr>
            <a:r>
              <a:rPr lang="en-US" sz="1300" b="1" dirty="0">
                <a:solidFill>
                  <a:srgbClr val="CADCFC"/>
                </a:solidFill>
                <a:latin typeface="Calibri" pitchFamily="34" charset="0"/>
                <a:ea typeface="Calibri" pitchFamily="34" charset="-122"/>
                <a:cs typeface="Calibri" pitchFamily="34" charset="-120"/>
              </a:rPr>
              <a:t>Date: </a:t>
            </a:r>
            <a:r>
              <a:rPr lang="en-US" sz="1300" dirty="0">
                <a:solidFill>
                  <a:srgbClr val="FFFFFF"/>
                </a:solidFill>
                <a:latin typeface="Calibri" pitchFamily="34" charset="0"/>
                <a:ea typeface="Calibri" pitchFamily="34" charset="-122"/>
                <a:cs typeface="Calibri" pitchFamily="34" charset="-120"/>
              </a:rPr>
              <a:t>3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This Deck Covers</a:t>
            </a:r>
            <a:endParaRPr lang="en-US" sz="3000" dirty="0"/>
          </a:p>
        </p:txBody>
      </p:sp>
      <p:sp>
        <p:nvSpPr>
          <p:cNvPr id="4" name="Shape 1"/>
          <p:cNvSpPr/>
          <p:nvPr/>
        </p:nvSpPr>
        <p:spPr>
          <a:xfrm>
            <a:off x="548640" y="1371600"/>
            <a:ext cx="548640" cy="548640"/>
          </a:xfrm>
          <a:prstGeom prst="ellipse">
            <a:avLst/>
          </a:prstGeom>
          <a:solidFill>
            <a:srgbClr val="F5F7FC"/>
          </a:solidFill>
          <a:ln w="12700">
            <a:solidFill>
              <a:srgbClr val="1E2761"/>
            </a:solidFill>
            <a:prstDash val="solid"/>
          </a:ln>
        </p:spPr>
      </p:sp>
      <p:sp>
        <p:nvSpPr>
          <p:cNvPr id="5" name="Text 2"/>
          <p:cNvSpPr/>
          <p:nvPr/>
        </p:nvSpPr>
        <p:spPr>
          <a:xfrm>
            <a:off x="548640" y="1371600"/>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01</a:t>
            </a:r>
            <a:endParaRPr lang="en-US" sz="1400" dirty="0"/>
          </a:p>
        </p:txBody>
      </p:sp>
      <p:sp>
        <p:nvSpPr>
          <p:cNvPr id="6" name="Text 3"/>
          <p:cNvSpPr/>
          <p:nvPr/>
        </p:nvSpPr>
        <p:spPr>
          <a:xfrm>
            <a:off x="1280160" y="1298448"/>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Business Problem &amp; Objective</a:t>
            </a:r>
            <a:endParaRPr lang="en-US" sz="1450" dirty="0"/>
          </a:p>
        </p:txBody>
      </p:sp>
      <p:sp>
        <p:nvSpPr>
          <p:cNvPr id="7" name="Text 4"/>
          <p:cNvSpPr/>
          <p:nvPr/>
        </p:nvSpPr>
        <p:spPr>
          <a:xfrm>
            <a:off x="1280160" y="1664208"/>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Why the team needed a structured revenue tracker</a:t>
            </a:r>
            <a:endParaRPr lang="en-US" sz="1100" dirty="0"/>
          </a:p>
        </p:txBody>
      </p:sp>
      <p:sp>
        <p:nvSpPr>
          <p:cNvPr id="8" name="Shape 5"/>
          <p:cNvSpPr/>
          <p:nvPr/>
        </p:nvSpPr>
        <p:spPr>
          <a:xfrm>
            <a:off x="548640" y="2542032"/>
            <a:ext cx="548640" cy="548640"/>
          </a:xfrm>
          <a:prstGeom prst="ellipse">
            <a:avLst/>
          </a:prstGeom>
          <a:solidFill>
            <a:srgbClr val="F5F7FC"/>
          </a:solidFill>
          <a:ln w="12700">
            <a:solidFill>
              <a:srgbClr val="1E2761"/>
            </a:solidFill>
            <a:prstDash val="solid"/>
          </a:ln>
        </p:spPr>
      </p:sp>
      <p:sp>
        <p:nvSpPr>
          <p:cNvPr id="9" name="Text 6"/>
          <p:cNvSpPr/>
          <p:nvPr/>
        </p:nvSpPr>
        <p:spPr>
          <a:xfrm>
            <a:off x="548640" y="2542032"/>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02</a:t>
            </a:r>
            <a:endParaRPr lang="en-US" sz="1400" dirty="0"/>
          </a:p>
        </p:txBody>
      </p:sp>
      <p:sp>
        <p:nvSpPr>
          <p:cNvPr id="10" name="Text 7"/>
          <p:cNvSpPr/>
          <p:nvPr/>
        </p:nvSpPr>
        <p:spPr>
          <a:xfrm>
            <a:off x="1280160" y="2468880"/>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Solution Overview</a:t>
            </a:r>
            <a:endParaRPr lang="en-US" sz="1450" dirty="0"/>
          </a:p>
        </p:txBody>
      </p:sp>
      <p:sp>
        <p:nvSpPr>
          <p:cNvPr id="11" name="Text 8"/>
          <p:cNvSpPr/>
          <p:nvPr/>
        </p:nvSpPr>
        <p:spPr>
          <a:xfrm>
            <a:off x="1280160" y="2834640"/>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What the system does and who it's for</a:t>
            </a:r>
            <a:endParaRPr lang="en-US" sz="1100" dirty="0"/>
          </a:p>
        </p:txBody>
      </p:sp>
      <p:sp>
        <p:nvSpPr>
          <p:cNvPr id="12" name="Shape 9"/>
          <p:cNvSpPr/>
          <p:nvPr/>
        </p:nvSpPr>
        <p:spPr>
          <a:xfrm>
            <a:off x="548640" y="3712464"/>
            <a:ext cx="548640" cy="548640"/>
          </a:xfrm>
          <a:prstGeom prst="ellipse">
            <a:avLst/>
          </a:prstGeom>
          <a:solidFill>
            <a:srgbClr val="F5F7FC"/>
          </a:solidFill>
          <a:ln w="12700">
            <a:solidFill>
              <a:srgbClr val="1E2761"/>
            </a:solidFill>
            <a:prstDash val="solid"/>
          </a:ln>
        </p:spPr>
      </p:sp>
      <p:sp>
        <p:nvSpPr>
          <p:cNvPr id="13" name="Text 10"/>
          <p:cNvSpPr/>
          <p:nvPr/>
        </p:nvSpPr>
        <p:spPr>
          <a:xfrm>
            <a:off x="548640" y="3712464"/>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03</a:t>
            </a:r>
            <a:endParaRPr lang="en-US" sz="1400" dirty="0"/>
          </a:p>
        </p:txBody>
      </p:sp>
      <p:sp>
        <p:nvSpPr>
          <p:cNvPr id="14" name="Text 11"/>
          <p:cNvSpPr/>
          <p:nvPr/>
        </p:nvSpPr>
        <p:spPr>
          <a:xfrm>
            <a:off x="1280160" y="3639312"/>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How It Works</a:t>
            </a:r>
            <a:endParaRPr lang="en-US" sz="1450" dirty="0"/>
          </a:p>
        </p:txBody>
      </p:sp>
      <p:sp>
        <p:nvSpPr>
          <p:cNvPr id="15" name="Text 12"/>
          <p:cNvSpPr/>
          <p:nvPr/>
        </p:nvSpPr>
        <p:spPr>
          <a:xfrm>
            <a:off x="1280160" y="4005072"/>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Data flow from entry to executive dashboard</a:t>
            </a:r>
            <a:endParaRPr lang="en-US" sz="1100" dirty="0"/>
          </a:p>
        </p:txBody>
      </p:sp>
      <p:sp>
        <p:nvSpPr>
          <p:cNvPr id="16" name="Shape 13"/>
          <p:cNvSpPr/>
          <p:nvPr/>
        </p:nvSpPr>
        <p:spPr>
          <a:xfrm>
            <a:off x="548640" y="4882896"/>
            <a:ext cx="548640" cy="548640"/>
          </a:xfrm>
          <a:prstGeom prst="ellipse">
            <a:avLst/>
          </a:prstGeom>
          <a:solidFill>
            <a:srgbClr val="F5F7FC"/>
          </a:solidFill>
          <a:ln w="12700">
            <a:solidFill>
              <a:srgbClr val="1E2761"/>
            </a:solidFill>
            <a:prstDash val="solid"/>
          </a:ln>
        </p:spPr>
      </p:sp>
      <p:sp>
        <p:nvSpPr>
          <p:cNvPr id="17" name="Text 14"/>
          <p:cNvSpPr/>
          <p:nvPr/>
        </p:nvSpPr>
        <p:spPr>
          <a:xfrm>
            <a:off x="548640" y="4882896"/>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04</a:t>
            </a:r>
            <a:endParaRPr lang="en-US" sz="1400" dirty="0"/>
          </a:p>
        </p:txBody>
      </p:sp>
      <p:sp>
        <p:nvSpPr>
          <p:cNvPr id="18" name="Text 15"/>
          <p:cNvSpPr/>
          <p:nvPr/>
        </p:nvSpPr>
        <p:spPr>
          <a:xfrm>
            <a:off x="1280160" y="4809744"/>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Key Features</a:t>
            </a:r>
            <a:endParaRPr lang="en-US" sz="1450" dirty="0"/>
          </a:p>
        </p:txBody>
      </p:sp>
      <p:sp>
        <p:nvSpPr>
          <p:cNvPr id="19" name="Text 16"/>
          <p:cNvSpPr/>
          <p:nvPr/>
        </p:nvSpPr>
        <p:spPr>
          <a:xfrm>
            <a:off x="1280160" y="5175504"/>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Automation, KPIs, and reporting built in</a:t>
            </a:r>
            <a:endParaRPr lang="en-US" sz="1100" dirty="0"/>
          </a:p>
        </p:txBody>
      </p:sp>
      <p:sp>
        <p:nvSpPr>
          <p:cNvPr id="20" name="Shape 17"/>
          <p:cNvSpPr/>
          <p:nvPr/>
        </p:nvSpPr>
        <p:spPr>
          <a:xfrm>
            <a:off x="6400800" y="1371600"/>
            <a:ext cx="548640" cy="548640"/>
          </a:xfrm>
          <a:prstGeom prst="ellipse">
            <a:avLst/>
          </a:prstGeom>
          <a:solidFill>
            <a:srgbClr val="F5F7FC"/>
          </a:solidFill>
          <a:ln w="12700">
            <a:solidFill>
              <a:srgbClr val="1E2761"/>
            </a:solidFill>
            <a:prstDash val="solid"/>
          </a:ln>
        </p:spPr>
      </p:sp>
      <p:sp>
        <p:nvSpPr>
          <p:cNvPr id="21" name="Text 18"/>
          <p:cNvSpPr/>
          <p:nvPr/>
        </p:nvSpPr>
        <p:spPr>
          <a:xfrm>
            <a:off x="6400800" y="1371600"/>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05</a:t>
            </a:r>
            <a:endParaRPr lang="en-US" sz="1400" dirty="0"/>
          </a:p>
        </p:txBody>
      </p:sp>
      <p:sp>
        <p:nvSpPr>
          <p:cNvPr id="22" name="Text 19"/>
          <p:cNvSpPr/>
          <p:nvPr/>
        </p:nvSpPr>
        <p:spPr>
          <a:xfrm>
            <a:off x="7132320" y="1298448"/>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Dashboard Preview</a:t>
            </a:r>
            <a:endParaRPr lang="en-US" sz="1450" dirty="0"/>
          </a:p>
        </p:txBody>
      </p:sp>
      <p:sp>
        <p:nvSpPr>
          <p:cNvPr id="23" name="Text 20"/>
          <p:cNvSpPr/>
          <p:nvPr/>
        </p:nvSpPr>
        <p:spPr>
          <a:xfrm>
            <a:off x="7132320" y="1664208"/>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A look at the live executive dashboard</a:t>
            </a:r>
            <a:endParaRPr lang="en-US" sz="1100" dirty="0"/>
          </a:p>
        </p:txBody>
      </p:sp>
      <p:sp>
        <p:nvSpPr>
          <p:cNvPr id="24" name="Shape 21"/>
          <p:cNvSpPr/>
          <p:nvPr/>
        </p:nvSpPr>
        <p:spPr>
          <a:xfrm>
            <a:off x="6400800" y="2542032"/>
            <a:ext cx="548640" cy="548640"/>
          </a:xfrm>
          <a:prstGeom prst="ellipse">
            <a:avLst/>
          </a:prstGeom>
          <a:solidFill>
            <a:srgbClr val="F5F7FC"/>
          </a:solidFill>
          <a:ln w="12700">
            <a:solidFill>
              <a:srgbClr val="1E2761"/>
            </a:solidFill>
            <a:prstDash val="solid"/>
          </a:ln>
        </p:spPr>
      </p:sp>
      <p:sp>
        <p:nvSpPr>
          <p:cNvPr id="25" name="Text 22"/>
          <p:cNvSpPr/>
          <p:nvPr/>
        </p:nvSpPr>
        <p:spPr>
          <a:xfrm>
            <a:off x="6400800" y="2542032"/>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06</a:t>
            </a:r>
            <a:endParaRPr lang="en-US" sz="1400" dirty="0"/>
          </a:p>
        </p:txBody>
      </p:sp>
      <p:sp>
        <p:nvSpPr>
          <p:cNvPr id="26" name="Text 23"/>
          <p:cNvSpPr/>
          <p:nvPr/>
        </p:nvSpPr>
        <p:spPr>
          <a:xfrm>
            <a:off x="7132320" y="2468880"/>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Performance Insights</a:t>
            </a:r>
            <a:endParaRPr lang="en-US" sz="1450" dirty="0"/>
          </a:p>
        </p:txBody>
      </p:sp>
      <p:sp>
        <p:nvSpPr>
          <p:cNvPr id="27" name="Text 24"/>
          <p:cNvSpPr/>
          <p:nvPr/>
        </p:nvSpPr>
        <p:spPr>
          <a:xfrm>
            <a:off x="7132320" y="2834640"/>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Regional, category and rep-level breakdowns</a:t>
            </a:r>
            <a:endParaRPr lang="en-US" sz="1100" dirty="0"/>
          </a:p>
        </p:txBody>
      </p:sp>
      <p:sp>
        <p:nvSpPr>
          <p:cNvPr id="28" name="Shape 25"/>
          <p:cNvSpPr/>
          <p:nvPr/>
        </p:nvSpPr>
        <p:spPr>
          <a:xfrm>
            <a:off x="6400800" y="3712464"/>
            <a:ext cx="548640" cy="548640"/>
          </a:xfrm>
          <a:prstGeom prst="ellipse">
            <a:avLst/>
          </a:prstGeom>
          <a:solidFill>
            <a:srgbClr val="F5F7FC"/>
          </a:solidFill>
          <a:ln w="12700">
            <a:solidFill>
              <a:srgbClr val="1E2761"/>
            </a:solidFill>
            <a:prstDash val="solid"/>
          </a:ln>
        </p:spPr>
      </p:sp>
      <p:sp>
        <p:nvSpPr>
          <p:cNvPr id="29" name="Text 26"/>
          <p:cNvSpPr/>
          <p:nvPr/>
        </p:nvSpPr>
        <p:spPr>
          <a:xfrm>
            <a:off x="6400800" y="3712464"/>
            <a:ext cx="548640" cy="548640"/>
          </a:xfrm>
          <a:prstGeom prst="rect">
            <a:avLst/>
          </a:prstGeom>
          <a:noFill/>
          <a:ln/>
        </p:spPr>
        <p:txBody>
          <a:bodyPr wrap="square" rtlCol="0" anchor="ctr"/>
          <a:lstStyle/>
          <a:p>
            <a:pPr marL="0" indent="0" algn="ctr">
              <a:buNone/>
            </a:pPr>
            <a:r>
              <a:rPr lang="en-US" sz="1400" b="1" dirty="0">
                <a:solidFill>
                  <a:srgbClr val="1E2761"/>
                </a:solidFill>
                <a:latin typeface="Cambria" pitchFamily="34" charset="0"/>
                <a:ea typeface="Cambria" pitchFamily="34" charset="-122"/>
                <a:cs typeface="Cambria" pitchFamily="34" charset="-120"/>
              </a:rPr>
              <a:t>07</a:t>
            </a:r>
            <a:endParaRPr lang="en-US" sz="1400" dirty="0"/>
          </a:p>
        </p:txBody>
      </p:sp>
      <p:sp>
        <p:nvSpPr>
          <p:cNvPr id="30" name="Text 27"/>
          <p:cNvSpPr/>
          <p:nvPr/>
        </p:nvSpPr>
        <p:spPr>
          <a:xfrm>
            <a:off x="7132320" y="3639312"/>
            <a:ext cx="4663440" cy="365760"/>
          </a:xfrm>
          <a:prstGeom prst="rect">
            <a:avLst/>
          </a:prstGeom>
          <a:noFill/>
          <a:ln/>
        </p:spPr>
        <p:txBody>
          <a:bodyPr wrap="square" rtlCol="0" anchor="ctr"/>
          <a:lstStyle/>
          <a:p>
            <a:pPr marL="0" indent="0">
              <a:buNone/>
            </a:pPr>
            <a:r>
              <a:rPr lang="en-US" sz="1450" b="1" dirty="0">
                <a:solidFill>
                  <a:srgbClr val="3A3A3A"/>
                </a:solidFill>
                <a:latin typeface="Calibri" pitchFamily="34" charset="0"/>
                <a:ea typeface="Calibri" pitchFamily="34" charset="-122"/>
                <a:cs typeface="Calibri" pitchFamily="34" charset="-120"/>
              </a:rPr>
              <a:t>Business Impact &amp; Next Steps</a:t>
            </a:r>
            <a:endParaRPr lang="en-US" sz="1450" dirty="0"/>
          </a:p>
        </p:txBody>
      </p:sp>
      <p:sp>
        <p:nvSpPr>
          <p:cNvPr id="31" name="Text 28"/>
          <p:cNvSpPr/>
          <p:nvPr/>
        </p:nvSpPr>
        <p:spPr>
          <a:xfrm>
            <a:off x="7132320" y="4005072"/>
            <a:ext cx="4663440" cy="457200"/>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Value delivered and the roadmap ahead</a:t>
            </a:r>
            <a:endParaRPr lang="en-US" sz="1100" dirty="0"/>
          </a:p>
        </p:txBody>
      </p:sp>
      <p:sp>
        <p:nvSpPr>
          <p:cNvPr id="32" name="Text 29"/>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33" name="Text 3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4206240" cy="6858000"/>
          </a:xfrm>
          <a:prstGeom prst="rect">
            <a:avLst/>
          </a:prstGeom>
          <a:solidFill>
            <a:srgbClr val="1E2761"/>
          </a:solidFill>
          <a:ln/>
        </p:spPr>
      </p:sp>
      <p:sp>
        <p:nvSpPr>
          <p:cNvPr id="4" name="Text 1"/>
          <p:cNvSpPr/>
          <p:nvPr/>
        </p:nvSpPr>
        <p:spPr>
          <a:xfrm>
            <a:off x="457200" y="640080"/>
            <a:ext cx="329184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The Problem</a:t>
            </a:r>
            <a:endParaRPr lang="en-US" sz="2400" dirty="0"/>
          </a:p>
        </p:txBody>
      </p:sp>
      <p:sp>
        <p:nvSpPr>
          <p:cNvPr id="5" name="Text 2"/>
          <p:cNvSpPr/>
          <p:nvPr/>
        </p:nvSpPr>
        <p:spPr>
          <a:xfrm>
            <a:off x="457200" y="1371600"/>
            <a:ext cx="3383280" cy="2377440"/>
          </a:xfrm>
          <a:prstGeom prst="rect">
            <a:avLst/>
          </a:prstGeom>
          <a:noFill/>
          <a:ln/>
        </p:spPr>
        <p:txBody>
          <a:bodyPr wrap="square" rtlCol="0" anchor="ctr"/>
          <a:lstStyle/>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Sales data was scattered across personal spreadsheets and WhatsApp updates. The manager had no single source of truth for monthly revenue, and reports took hours to compile by hand before every review.</a:t>
            </a:r>
            <a:endParaRPr lang="en-US" sz="1300" dirty="0"/>
          </a:p>
        </p:txBody>
      </p:sp>
      <p:sp>
        <p:nvSpPr>
          <p:cNvPr id="6" name="Shape 3"/>
          <p:cNvSpPr/>
          <p:nvPr/>
        </p:nvSpPr>
        <p:spPr>
          <a:xfrm>
            <a:off x="457200" y="3931920"/>
            <a:ext cx="2194560" cy="0"/>
          </a:xfrm>
          <a:prstGeom prst="line">
            <a:avLst/>
          </a:prstGeom>
          <a:noFill/>
          <a:ln w="25400">
            <a:solidFill>
              <a:srgbClr val="B8860B"/>
            </a:solidFill>
            <a:prstDash val="solid"/>
          </a:ln>
        </p:spPr>
      </p:sp>
      <p:sp>
        <p:nvSpPr>
          <p:cNvPr id="7" name="Text 4"/>
          <p:cNvSpPr/>
          <p:nvPr/>
        </p:nvSpPr>
        <p:spPr>
          <a:xfrm>
            <a:off x="457200" y="4114800"/>
            <a:ext cx="3291840" cy="457200"/>
          </a:xfrm>
          <a:prstGeom prst="rect">
            <a:avLst/>
          </a:prstGeom>
          <a:noFill/>
          <a:ln/>
        </p:spPr>
        <p:txBody>
          <a:bodyPr wrap="square" rtlCol="0" anchor="ctr"/>
          <a:lstStyle/>
          <a:p>
            <a:pPr marL="0" indent="0">
              <a:buNone/>
            </a:pPr>
            <a:r>
              <a:rPr lang="en-US" sz="1800" b="1" dirty="0">
                <a:solidFill>
                  <a:srgbClr val="B8860B"/>
                </a:solidFill>
                <a:latin typeface="Cambria" pitchFamily="34" charset="0"/>
                <a:ea typeface="Cambria" pitchFamily="34" charset="-122"/>
                <a:cs typeface="Cambria" pitchFamily="34" charset="-120"/>
              </a:rPr>
              <a:t>Objective</a:t>
            </a:r>
            <a:endParaRPr lang="en-US" sz="1800" dirty="0"/>
          </a:p>
        </p:txBody>
      </p:sp>
      <p:sp>
        <p:nvSpPr>
          <p:cNvPr id="8" name="Text 5"/>
          <p:cNvSpPr/>
          <p:nvPr/>
        </p:nvSpPr>
        <p:spPr>
          <a:xfrm>
            <a:off x="457200" y="4617720"/>
            <a:ext cx="3383280" cy="1645920"/>
          </a:xfrm>
          <a:prstGeom prst="rect">
            <a:avLst/>
          </a:prstGeom>
          <a:noFill/>
          <a:ln/>
        </p:spPr>
        <p:txBody>
          <a:bodyPr wrap="square"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Build one structured Excel workbook where the team logs sales once, and revenue, profit, and performance reporting update automatically for the manager.</a:t>
            </a:r>
            <a:endParaRPr lang="en-US" sz="1300" dirty="0"/>
          </a:p>
        </p:txBody>
      </p:sp>
      <p:pic>
        <p:nvPicPr>
          <p:cNvPr id="9" name="Image 0" descr="icons/FaClock_navy.png"/>
          <p:cNvPicPr>
            <a:picLocks noChangeAspect="1"/>
          </p:cNvPicPr>
          <p:nvPr/>
        </p:nvPicPr>
        <p:blipFill>
          <a:blip r:embed="rId3"/>
          <a:stretch>
            <a:fillRect/>
          </a:stretch>
        </p:blipFill>
        <p:spPr>
          <a:xfrm>
            <a:off x="4709160" y="914400"/>
            <a:ext cx="502920" cy="502920"/>
          </a:xfrm>
          <a:prstGeom prst="rect">
            <a:avLst/>
          </a:prstGeom>
        </p:spPr>
      </p:pic>
      <p:sp>
        <p:nvSpPr>
          <p:cNvPr id="10" name="Text 6"/>
          <p:cNvSpPr/>
          <p:nvPr/>
        </p:nvSpPr>
        <p:spPr>
          <a:xfrm>
            <a:off x="5440680" y="868680"/>
            <a:ext cx="603504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Slow reporting</a:t>
            </a:r>
            <a:endParaRPr lang="en-US" sz="1600" dirty="0"/>
          </a:p>
        </p:txBody>
      </p:sp>
      <p:sp>
        <p:nvSpPr>
          <p:cNvPr id="11" name="Text 7"/>
          <p:cNvSpPr/>
          <p:nvPr/>
        </p:nvSpPr>
        <p:spPr>
          <a:xfrm>
            <a:off x="5440680" y="1261872"/>
            <a:ext cx="6035040" cy="822960"/>
          </a:xfrm>
          <a:prstGeom prst="rect">
            <a:avLst/>
          </a:prstGeom>
          <a:noFill/>
          <a:ln/>
        </p:spPr>
        <p:txBody>
          <a:bodyPr wrap="square" rtlCol="0" anchor="ctr"/>
          <a:lstStyle/>
          <a:p>
            <a:pPr marL="0" indent="0">
              <a:lnSpc>
                <a:spcPct val="125000"/>
              </a:lnSpc>
              <a:buNone/>
            </a:pPr>
            <a:r>
              <a:rPr lang="en-US" sz="1250" dirty="0">
                <a:solidFill>
                  <a:srgbClr val="6B6B6B"/>
                </a:solidFill>
                <a:latin typeface="Calibri" pitchFamily="34" charset="0"/>
                <a:ea typeface="Calibri" pitchFamily="34" charset="-122"/>
                <a:cs typeface="Calibri" pitchFamily="34" charset="-120"/>
              </a:rPr>
              <a:t>Manual compilation took 3-4 hours every week before each review meeting.</a:t>
            </a:r>
            <a:endParaRPr lang="en-US" sz="1250" dirty="0"/>
          </a:p>
        </p:txBody>
      </p:sp>
      <p:pic>
        <p:nvPicPr>
          <p:cNvPr id="12" name="Image 1" descr="icons/FaChartPie_navy.png"/>
          <p:cNvPicPr>
            <a:picLocks noChangeAspect="1"/>
          </p:cNvPicPr>
          <p:nvPr/>
        </p:nvPicPr>
        <p:blipFill>
          <a:blip r:embed="rId4"/>
          <a:stretch>
            <a:fillRect/>
          </a:stretch>
        </p:blipFill>
        <p:spPr>
          <a:xfrm>
            <a:off x="4709160" y="2651760"/>
            <a:ext cx="502920" cy="502920"/>
          </a:xfrm>
          <a:prstGeom prst="rect">
            <a:avLst/>
          </a:prstGeom>
        </p:spPr>
      </p:pic>
      <p:sp>
        <p:nvSpPr>
          <p:cNvPr id="13" name="Text 8"/>
          <p:cNvSpPr/>
          <p:nvPr/>
        </p:nvSpPr>
        <p:spPr>
          <a:xfrm>
            <a:off x="5440680" y="2606040"/>
            <a:ext cx="603504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No visibility</a:t>
            </a:r>
            <a:endParaRPr lang="en-US" sz="1600" dirty="0"/>
          </a:p>
        </p:txBody>
      </p:sp>
      <p:sp>
        <p:nvSpPr>
          <p:cNvPr id="14" name="Text 9"/>
          <p:cNvSpPr/>
          <p:nvPr/>
        </p:nvSpPr>
        <p:spPr>
          <a:xfrm>
            <a:off x="5440680" y="2999232"/>
            <a:ext cx="6035040" cy="822960"/>
          </a:xfrm>
          <a:prstGeom prst="rect">
            <a:avLst/>
          </a:prstGeom>
          <a:noFill/>
          <a:ln/>
        </p:spPr>
        <p:txBody>
          <a:bodyPr wrap="square" rtlCol="0" anchor="ctr"/>
          <a:lstStyle/>
          <a:p>
            <a:pPr marL="0" indent="0">
              <a:lnSpc>
                <a:spcPct val="125000"/>
              </a:lnSpc>
              <a:buNone/>
            </a:pPr>
            <a:r>
              <a:rPr lang="en-US" sz="1250" dirty="0">
                <a:solidFill>
                  <a:srgbClr val="6B6B6B"/>
                </a:solidFill>
                <a:latin typeface="Calibri" pitchFamily="34" charset="0"/>
                <a:ea typeface="Calibri" pitchFamily="34" charset="-122"/>
                <a:cs typeface="Calibri" pitchFamily="34" charset="-120"/>
              </a:rPr>
              <a:t>No single view of revenue by region, category, or sales rep.</a:t>
            </a:r>
            <a:endParaRPr lang="en-US" sz="1250" dirty="0"/>
          </a:p>
        </p:txBody>
      </p:sp>
      <p:pic>
        <p:nvPicPr>
          <p:cNvPr id="15" name="Image 2" descr="icons/FaShieldAlt_navy.png"/>
          <p:cNvPicPr>
            <a:picLocks noChangeAspect="1"/>
          </p:cNvPicPr>
          <p:nvPr/>
        </p:nvPicPr>
        <p:blipFill>
          <a:blip r:embed="rId5"/>
          <a:stretch>
            <a:fillRect/>
          </a:stretch>
        </p:blipFill>
        <p:spPr>
          <a:xfrm>
            <a:off x="4709160" y="4389120"/>
            <a:ext cx="502920" cy="502920"/>
          </a:xfrm>
          <a:prstGeom prst="rect">
            <a:avLst/>
          </a:prstGeom>
        </p:spPr>
      </p:pic>
      <p:sp>
        <p:nvSpPr>
          <p:cNvPr id="16" name="Text 10"/>
          <p:cNvSpPr/>
          <p:nvPr/>
        </p:nvSpPr>
        <p:spPr>
          <a:xfrm>
            <a:off x="5440680" y="4343400"/>
            <a:ext cx="603504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Error-prone</a:t>
            </a:r>
            <a:endParaRPr lang="en-US" sz="1600" dirty="0"/>
          </a:p>
        </p:txBody>
      </p:sp>
      <p:sp>
        <p:nvSpPr>
          <p:cNvPr id="17" name="Text 11"/>
          <p:cNvSpPr/>
          <p:nvPr/>
        </p:nvSpPr>
        <p:spPr>
          <a:xfrm>
            <a:off x="5440680" y="4736592"/>
            <a:ext cx="6035040" cy="822960"/>
          </a:xfrm>
          <a:prstGeom prst="rect">
            <a:avLst/>
          </a:prstGeom>
          <a:noFill/>
          <a:ln/>
        </p:spPr>
        <p:txBody>
          <a:bodyPr wrap="square" rtlCol="0" anchor="ctr"/>
          <a:lstStyle/>
          <a:p>
            <a:pPr marL="0" indent="0">
              <a:lnSpc>
                <a:spcPct val="125000"/>
              </a:lnSpc>
              <a:buNone/>
            </a:pPr>
            <a:r>
              <a:rPr lang="en-US" sz="1250" dirty="0">
                <a:solidFill>
                  <a:srgbClr val="6B6B6B"/>
                </a:solidFill>
                <a:latin typeface="Calibri" pitchFamily="34" charset="0"/>
                <a:ea typeface="Calibri" pitchFamily="34" charset="-122"/>
                <a:cs typeface="Calibri" pitchFamily="34" charset="-120"/>
              </a:rPr>
              <a:t>Copy-paste totals across sheets led to mismatched numbers.</a:t>
            </a:r>
            <a:endParaRPr lang="en-US" sz="1250" dirty="0"/>
          </a:p>
        </p:txBody>
      </p:sp>
      <p:sp>
        <p:nvSpPr>
          <p:cNvPr id="18" name="Text 12"/>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19" name="Text 1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Solution Overview</a:t>
            </a:r>
            <a:endParaRPr lang="en-US" sz="3000" dirty="0"/>
          </a:p>
        </p:txBody>
      </p:sp>
      <p:sp>
        <p:nvSpPr>
          <p:cNvPr id="4" name="Text 1"/>
          <p:cNvSpPr/>
          <p:nvPr/>
        </p:nvSpPr>
        <p:spPr>
          <a:xfrm>
            <a:off x="548640" y="1051560"/>
            <a:ext cx="10515600" cy="548640"/>
          </a:xfrm>
          <a:prstGeom prst="rect">
            <a:avLst/>
          </a:prstGeom>
          <a:noFill/>
          <a:ln/>
        </p:spPr>
        <p:txBody>
          <a:bodyPr wrap="square" rtlCol="0" anchor="ctr"/>
          <a:lstStyle/>
          <a:p>
            <a:pPr marL="0" indent="0">
              <a:buNone/>
            </a:pPr>
            <a:r>
              <a:rPr lang="en-US" sz="1350" dirty="0">
                <a:solidFill>
                  <a:srgbClr val="6B6B6B"/>
                </a:solidFill>
                <a:latin typeface="Calibri" pitchFamily="34" charset="0"/>
                <a:ea typeface="Calibri" pitchFamily="34" charset="-122"/>
                <a:cs typeface="Calibri" pitchFamily="34" charset="-120"/>
              </a:rPr>
              <a:t>A single Excel workbook — the Sales Revenue Tracker — replaces scattered spreadsheets with one connected system covering data entry, calculation, and reporting.</a:t>
            </a:r>
            <a:endParaRPr lang="en-US" sz="1350" dirty="0"/>
          </a:p>
        </p:txBody>
      </p:sp>
      <p:sp>
        <p:nvSpPr>
          <p:cNvPr id="5" name="Shape 2"/>
          <p:cNvSpPr/>
          <p:nvPr/>
        </p:nvSpPr>
        <p:spPr>
          <a:xfrm>
            <a:off x="548640" y="1920240"/>
            <a:ext cx="2606040" cy="4023360"/>
          </a:xfrm>
          <a:prstGeom prst="roundRect">
            <a:avLst>
              <a:gd name="adj" fmla="val 2807"/>
            </a:avLst>
          </a:prstGeom>
          <a:solidFill>
            <a:srgbClr val="FFFFFF"/>
          </a:solidFill>
          <a:ln/>
          <a:effectLst>
            <a:outerShdw blurRad="101600" dist="38100" dir="5400000" algn="bl" rotWithShape="0">
              <a:srgbClr val="1E2761">
                <a:alpha val="12000"/>
              </a:srgbClr>
            </a:outerShdw>
          </a:effectLst>
        </p:spPr>
      </p:sp>
      <p:sp>
        <p:nvSpPr>
          <p:cNvPr id="6" name="Shape 3"/>
          <p:cNvSpPr/>
          <p:nvPr/>
        </p:nvSpPr>
        <p:spPr>
          <a:xfrm>
            <a:off x="1485900" y="2286000"/>
            <a:ext cx="731520" cy="731520"/>
          </a:xfrm>
          <a:prstGeom prst="ellipse">
            <a:avLst/>
          </a:prstGeom>
          <a:solidFill>
            <a:srgbClr val="CADCFC"/>
          </a:solidFill>
          <a:ln/>
        </p:spPr>
      </p:sp>
      <p:pic>
        <p:nvPicPr>
          <p:cNvPr id="7" name="Image 0" descr="icons/FaClipboardList_navy.png"/>
          <p:cNvPicPr>
            <a:picLocks noChangeAspect="1"/>
          </p:cNvPicPr>
          <p:nvPr/>
        </p:nvPicPr>
        <p:blipFill>
          <a:blip r:embed="rId3"/>
          <a:stretch>
            <a:fillRect/>
          </a:stretch>
        </p:blipFill>
        <p:spPr>
          <a:xfrm>
            <a:off x="1632204" y="2432304"/>
            <a:ext cx="438912" cy="438912"/>
          </a:xfrm>
          <a:prstGeom prst="rect">
            <a:avLst/>
          </a:prstGeom>
        </p:spPr>
      </p:pic>
      <p:sp>
        <p:nvSpPr>
          <p:cNvPr id="8" name="Text 4"/>
          <p:cNvSpPr/>
          <p:nvPr/>
        </p:nvSpPr>
        <p:spPr>
          <a:xfrm>
            <a:off x="731520" y="3200400"/>
            <a:ext cx="22402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1. Log</a:t>
            </a:r>
            <a:endParaRPr lang="en-US" sz="1600" dirty="0"/>
          </a:p>
        </p:txBody>
      </p:sp>
      <p:sp>
        <p:nvSpPr>
          <p:cNvPr id="9" name="Text 5"/>
          <p:cNvSpPr/>
          <p:nvPr/>
        </p:nvSpPr>
        <p:spPr>
          <a:xfrm>
            <a:off x="777240" y="3611880"/>
            <a:ext cx="2148840" cy="210312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Team enters every sale once in the Sales_Data sheet — date, region, rep, product, units, price.</a:t>
            </a:r>
            <a:endParaRPr lang="en-US" sz="1150" dirty="0"/>
          </a:p>
        </p:txBody>
      </p:sp>
      <p:sp>
        <p:nvSpPr>
          <p:cNvPr id="10" name="Text 6"/>
          <p:cNvSpPr/>
          <p:nvPr/>
        </p:nvSpPr>
        <p:spPr>
          <a:xfrm>
            <a:off x="3163824" y="3703320"/>
            <a:ext cx="210312" cy="457200"/>
          </a:xfrm>
          <a:prstGeom prst="rect">
            <a:avLst/>
          </a:prstGeom>
          <a:noFill/>
          <a:ln/>
        </p:spPr>
        <p:txBody>
          <a:bodyPr wrap="square" rtlCol="0" anchor="ctr"/>
          <a:lstStyle/>
          <a:p>
            <a:pPr marL="0" indent="0" algn="ctr">
              <a:buNone/>
            </a:pPr>
            <a:r>
              <a:rPr lang="en-US" sz="1800" b="1" dirty="0">
                <a:solidFill>
                  <a:srgbClr val="B8860B"/>
                </a:solidFill>
              </a:rPr>
              <a:t>&gt;</a:t>
            </a:r>
            <a:endParaRPr lang="en-US" sz="1800" dirty="0"/>
          </a:p>
        </p:txBody>
      </p:sp>
      <p:sp>
        <p:nvSpPr>
          <p:cNvPr id="11" name="Shape 7"/>
          <p:cNvSpPr/>
          <p:nvPr/>
        </p:nvSpPr>
        <p:spPr>
          <a:xfrm>
            <a:off x="3383280" y="1920240"/>
            <a:ext cx="2606040" cy="4023360"/>
          </a:xfrm>
          <a:prstGeom prst="roundRect">
            <a:avLst>
              <a:gd name="adj" fmla="val 2807"/>
            </a:avLst>
          </a:prstGeom>
          <a:solidFill>
            <a:srgbClr val="FFFFFF"/>
          </a:solidFill>
          <a:ln/>
          <a:effectLst>
            <a:outerShdw blurRad="101600" dist="38100" dir="5400000" algn="bl" rotWithShape="0">
              <a:srgbClr val="1E2761">
                <a:alpha val="12000"/>
              </a:srgbClr>
            </a:outerShdw>
          </a:effectLst>
        </p:spPr>
      </p:sp>
      <p:sp>
        <p:nvSpPr>
          <p:cNvPr id="12" name="Shape 8"/>
          <p:cNvSpPr/>
          <p:nvPr/>
        </p:nvSpPr>
        <p:spPr>
          <a:xfrm>
            <a:off x="4320540" y="2286000"/>
            <a:ext cx="731520" cy="731520"/>
          </a:xfrm>
          <a:prstGeom prst="ellipse">
            <a:avLst/>
          </a:prstGeom>
          <a:solidFill>
            <a:srgbClr val="CADCFC"/>
          </a:solidFill>
          <a:ln/>
        </p:spPr>
      </p:sp>
      <p:pic>
        <p:nvPicPr>
          <p:cNvPr id="13" name="Image 1" descr="icons/FaCogs_navy.png"/>
          <p:cNvPicPr>
            <a:picLocks noChangeAspect="1"/>
          </p:cNvPicPr>
          <p:nvPr/>
        </p:nvPicPr>
        <p:blipFill>
          <a:blip r:embed="rId4"/>
          <a:stretch>
            <a:fillRect/>
          </a:stretch>
        </p:blipFill>
        <p:spPr>
          <a:xfrm>
            <a:off x="4466844" y="2432304"/>
            <a:ext cx="438912" cy="438912"/>
          </a:xfrm>
          <a:prstGeom prst="rect">
            <a:avLst/>
          </a:prstGeom>
        </p:spPr>
      </p:pic>
      <p:sp>
        <p:nvSpPr>
          <p:cNvPr id="14" name="Text 9"/>
          <p:cNvSpPr/>
          <p:nvPr/>
        </p:nvSpPr>
        <p:spPr>
          <a:xfrm>
            <a:off x="3566160" y="3200400"/>
            <a:ext cx="22402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2. Calculate</a:t>
            </a:r>
            <a:endParaRPr lang="en-US" sz="1600" dirty="0"/>
          </a:p>
        </p:txBody>
      </p:sp>
      <p:sp>
        <p:nvSpPr>
          <p:cNvPr id="15" name="Text 10"/>
          <p:cNvSpPr/>
          <p:nvPr/>
        </p:nvSpPr>
        <p:spPr>
          <a:xfrm>
            <a:off x="3611880" y="3611880"/>
            <a:ext cx="2148840" cy="210312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Revenue, cost, profit and margin are computed automatically with built-in formulas.</a:t>
            </a:r>
            <a:endParaRPr lang="en-US" sz="1150" dirty="0"/>
          </a:p>
        </p:txBody>
      </p:sp>
      <p:sp>
        <p:nvSpPr>
          <p:cNvPr id="16" name="Text 11"/>
          <p:cNvSpPr/>
          <p:nvPr/>
        </p:nvSpPr>
        <p:spPr>
          <a:xfrm>
            <a:off x="5998464" y="3703320"/>
            <a:ext cx="210312" cy="457200"/>
          </a:xfrm>
          <a:prstGeom prst="rect">
            <a:avLst/>
          </a:prstGeom>
          <a:noFill/>
          <a:ln/>
        </p:spPr>
        <p:txBody>
          <a:bodyPr wrap="square" rtlCol="0" anchor="ctr"/>
          <a:lstStyle/>
          <a:p>
            <a:pPr marL="0" indent="0" algn="ctr">
              <a:buNone/>
            </a:pPr>
            <a:r>
              <a:rPr lang="en-US" sz="1800" b="1" dirty="0">
                <a:solidFill>
                  <a:srgbClr val="B8860B"/>
                </a:solidFill>
              </a:rPr>
              <a:t>&gt;</a:t>
            </a:r>
            <a:endParaRPr lang="en-US" sz="1800" dirty="0"/>
          </a:p>
        </p:txBody>
      </p:sp>
      <p:sp>
        <p:nvSpPr>
          <p:cNvPr id="17" name="Shape 12"/>
          <p:cNvSpPr/>
          <p:nvPr/>
        </p:nvSpPr>
        <p:spPr>
          <a:xfrm>
            <a:off x="6217920" y="1920240"/>
            <a:ext cx="2606040" cy="4023360"/>
          </a:xfrm>
          <a:prstGeom prst="roundRect">
            <a:avLst>
              <a:gd name="adj" fmla="val 2807"/>
            </a:avLst>
          </a:prstGeom>
          <a:solidFill>
            <a:srgbClr val="FFFFFF"/>
          </a:solidFill>
          <a:ln/>
          <a:effectLst>
            <a:outerShdw blurRad="101600" dist="38100" dir="5400000" algn="bl" rotWithShape="0">
              <a:srgbClr val="1E2761">
                <a:alpha val="12000"/>
              </a:srgbClr>
            </a:outerShdw>
          </a:effectLst>
        </p:spPr>
      </p:sp>
      <p:sp>
        <p:nvSpPr>
          <p:cNvPr id="18" name="Shape 13"/>
          <p:cNvSpPr/>
          <p:nvPr/>
        </p:nvSpPr>
        <p:spPr>
          <a:xfrm>
            <a:off x="7155180" y="2286000"/>
            <a:ext cx="731520" cy="731520"/>
          </a:xfrm>
          <a:prstGeom prst="ellipse">
            <a:avLst/>
          </a:prstGeom>
          <a:solidFill>
            <a:srgbClr val="CADCFC"/>
          </a:solidFill>
          <a:ln/>
        </p:spPr>
      </p:sp>
      <p:pic>
        <p:nvPicPr>
          <p:cNvPr id="19" name="Image 2" descr="icons/FaChartLine_navy.png"/>
          <p:cNvPicPr>
            <a:picLocks noChangeAspect="1"/>
          </p:cNvPicPr>
          <p:nvPr/>
        </p:nvPicPr>
        <p:blipFill>
          <a:blip r:embed="rId5"/>
          <a:stretch>
            <a:fillRect/>
          </a:stretch>
        </p:blipFill>
        <p:spPr>
          <a:xfrm>
            <a:off x="7301484" y="2432304"/>
            <a:ext cx="438912" cy="438912"/>
          </a:xfrm>
          <a:prstGeom prst="rect">
            <a:avLst/>
          </a:prstGeom>
        </p:spPr>
      </p:pic>
      <p:sp>
        <p:nvSpPr>
          <p:cNvPr id="20" name="Text 14"/>
          <p:cNvSpPr/>
          <p:nvPr/>
        </p:nvSpPr>
        <p:spPr>
          <a:xfrm>
            <a:off x="6400800" y="3200400"/>
            <a:ext cx="22402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3. Summarize</a:t>
            </a:r>
            <a:endParaRPr lang="en-US" sz="1600" dirty="0"/>
          </a:p>
        </p:txBody>
      </p:sp>
      <p:sp>
        <p:nvSpPr>
          <p:cNvPr id="21" name="Text 15"/>
          <p:cNvSpPr/>
          <p:nvPr/>
        </p:nvSpPr>
        <p:spPr>
          <a:xfrm>
            <a:off x="6446520" y="3611880"/>
            <a:ext cx="2148840" cy="210312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Five summary sheets roll data up by month, region, category and rep — instantly.</a:t>
            </a:r>
            <a:endParaRPr lang="en-US" sz="1150" dirty="0"/>
          </a:p>
        </p:txBody>
      </p:sp>
      <p:sp>
        <p:nvSpPr>
          <p:cNvPr id="22" name="Text 16"/>
          <p:cNvSpPr/>
          <p:nvPr/>
        </p:nvSpPr>
        <p:spPr>
          <a:xfrm>
            <a:off x="8833104" y="3703320"/>
            <a:ext cx="210312" cy="457200"/>
          </a:xfrm>
          <a:prstGeom prst="rect">
            <a:avLst/>
          </a:prstGeom>
          <a:noFill/>
          <a:ln/>
        </p:spPr>
        <p:txBody>
          <a:bodyPr wrap="square" rtlCol="0" anchor="ctr"/>
          <a:lstStyle/>
          <a:p>
            <a:pPr marL="0" indent="0" algn="ctr">
              <a:buNone/>
            </a:pPr>
            <a:r>
              <a:rPr lang="en-US" sz="1800" b="1" dirty="0">
                <a:solidFill>
                  <a:srgbClr val="B8860B"/>
                </a:solidFill>
              </a:rPr>
              <a:t>&gt;</a:t>
            </a:r>
            <a:endParaRPr lang="en-US" sz="1800" dirty="0"/>
          </a:p>
        </p:txBody>
      </p:sp>
      <p:sp>
        <p:nvSpPr>
          <p:cNvPr id="23" name="Shape 17"/>
          <p:cNvSpPr/>
          <p:nvPr/>
        </p:nvSpPr>
        <p:spPr>
          <a:xfrm>
            <a:off x="9052560" y="1920240"/>
            <a:ext cx="2606040" cy="4023360"/>
          </a:xfrm>
          <a:prstGeom prst="roundRect">
            <a:avLst>
              <a:gd name="adj" fmla="val 2807"/>
            </a:avLst>
          </a:prstGeom>
          <a:solidFill>
            <a:srgbClr val="FFFFFF"/>
          </a:solidFill>
          <a:ln/>
          <a:effectLst>
            <a:outerShdw blurRad="101600" dist="38100" dir="5400000" algn="bl" rotWithShape="0">
              <a:srgbClr val="1E2761">
                <a:alpha val="12000"/>
              </a:srgbClr>
            </a:outerShdw>
          </a:effectLst>
        </p:spPr>
      </p:sp>
      <p:sp>
        <p:nvSpPr>
          <p:cNvPr id="24" name="Shape 18"/>
          <p:cNvSpPr/>
          <p:nvPr/>
        </p:nvSpPr>
        <p:spPr>
          <a:xfrm>
            <a:off x="9989820" y="2286000"/>
            <a:ext cx="731520" cy="731520"/>
          </a:xfrm>
          <a:prstGeom prst="ellipse">
            <a:avLst/>
          </a:prstGeom>
          <a:solidFill>
            <a:srgbClr val="CADCFC"/>
          </a:solidFill>
          <a:ln/>
        </p:spPr>
      </p:sp>
      <p:pic>
        <p:nvPicPr>
          <p:cNvPr id="25" name="Image 3" descr="icons/FaBullseye_navy.png"/>
          <p:cNvPicPr>
            <a:picLocks noChangeAspect="1"/>
          </p:cNvPicPr>
          <p:nvPr/>
        </p:nvPicPr>
        <p:blipFill>
          <a:blip r:embed="rId6"/>
          <a:stretch>
            <a:fillRect/>
          </a:stretch>
        </p:blipFill>
        <p:spPr>
          <a:xfrm>
            <a:off x="10136124" y="2432304"/>
            <a:ext cx="438912" cy="438912"/>
          </a:xfrm>
          <a:prstGeom prst="rect">
            <a:avLst/>
          </a:prstGeom>
        </p:spPr>
      </p:pic>
      <p:sp>
        <p:nvSpPr>
          <p:cNvPr id="26" name="Text 19"/>
          <p:cNvSpPr/>
          <p:nvPr/>
        </p:nvSpPr>
        <p:spPr>
          <a:xfrm>
            <a:off x="9235440" y="3200400"/>
            <a:ext cx="22402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4. Report</a:t>
            </a:r>
            <a:endParaRPr lang="en-US" sz="1600" dirty="0"/>
          </a:p>
        </p:txBody>
      </p:sp>
      <p:sp>
        <p:nvSpPr>
          <p:cNvPr id="27" name="Text 20"/>
          <p:cNvSpPr/>
          <p:nvPr/>
        </p:nvSpPr>
        <p:spPr>
          <a:xfrm>
            <a:off x="9281160" y="3611880"/>
            <a:ext cx="2148840" cy="2103120"/>
          </a:xfrm>
          <a:prstGeom prst="rect">
            <a:avLst/>
          </a:prstGeom>
          <a:noFill/>
          <a:ln/>
        </p:spPr>
        <p:txBody>
          <a:bodyPr wrap="square" rtlCol="0" anchor="ctr"/>
          <a:lstStyle/>
          <a:p>
            <a:pPr marL="0" indent="0" algn="ctr">
              <a:lnSpc>
                <a:spcPct val="125000"/>
              </a:lnSpc>
              <a:buNone/>
            </a:pPr>
            <a:r>
              <a:rPr lang="en-US" sz="1150" dirty="0">
                <a:solidFill>
                  <a:srgbClr val="6B6B6B"/>
                </a:solidFill>
                <a:latin typeface="Calibri" pitchFamily="34" charset="0"/>
                <a:ea typeface="Calibri" pitchFamily="34" charset="-122"/>
                <a:cs typeface="Calibri" pitchFamily="34" charset="-120"/>
              </a:rPr>
              <a:t>The executive Dashboard gives the manager a one-page view with KPIs and charts.</a:t>
            </a:r>
            <a:endParaRPr lang="en-US" sz="1150" dirty="0"/>
          </a:p>
        </p:txBody>
      </p:sp>
      <p:sp>
        <p:nvSpPr>
          <p:cNvPr id="28" name="Text 21"/>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29" name="Text 2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How It Works — Data Flow</a:t>
            </a:r>
            <a:endParaRPr lang="en-US" sz="3000" dirty="0"/>
          </a:p>
        </p:txBody>
      </p:sp>
      <p:sp>
        <p:nvSpPr>
          <p:cNvPr id="4" name="Text 1"/>
          <p:cNvSpPr/>
          <p:nvPr/>
        </p:nvSpPr>
        <p:spPr>
          <a:xfrm>
            <a:off x="548640" y="1051560"/>
            <a:ext cx="10515600" cy="457200"/>
          </a:xfrm>
          <a:prstGeom prst="rect">
            <a:avLst/>
          </a:prstGeom>
          <a:noFill/>
          <a:ln/>
        </p:spPr>
        <p:txBody>
          <a:bodyPr wrap="square" rtlCol="0" anchor="ctr"/>
          <a:lstStyle/>
          <a:p>
            <a:pPr marL="0" indent="0">
              <a:buNone/>
            </a:pPr>
            <a:r>
              <a:rPr lang="en-US" sz="1350" dirty="0">
                <a:solidFill>
                  <a:srgbClr val="6B6B6B"/>
                </a:solidFill>
                <a:latin typeface="Calibri" pitchFamily="34" charset="0"/>
                <a:ea typeface="Calibri" pitchFamily="34" charset="-122"/>
                <a:cs typeface="Calibri" pitchFamily="34" charset="-120"/>
              </a:rPr>
              <a:t>One entry point feeds every report in the workbook — no duplicate data entry, no manual totals.</a:t>
            </a:r>
            <a:endParaRPr lang="en-US" sz="1350" dirty="0"/>
          </a:p>
        </p:txBody>
      </p:sp>
      <p:sp>
        <p:nvSpPr>
          <p:cNvPr id="5" name="Shape 2"/>
          <p:cNvSpPr/>
          <p:nvPr/>
        </p:nvSpPr>
        <p:spPr>
          <a:xfrm>
            <a:off x="548640" y="2103120"/>
            <a:ext cx="2286000" cy="2377440"/>
          </a:xfrm>
          <a:prstGeom prst="roundRect">
            <a:avLst>
              <a:gd name="adj" fmla="val 3200"/>
            </a:avLst>
          </a:prstGeom>
          <a:solidFill>
            <a:srgbClr val="1E2761"/>
          </a:solidFill>
          <a:ln/>
        </p:spPr>
      </p:sp>
      <p:pic>
        <p:nvPicPr>
          <p:cNvPr id="6" name="Image 0" descr="icons/FaClipboardList_white.png"/>
          <p:cNvPicPr>
            <a:picLocks noChangeAspect="1"/>
          </p:cNvPicPr>
          <p:nvPr/>
        </p:nvPicPr>
        <p:blipFill>
          <a:blip r:embed="rId3"/>
          <a:stretch>
            <a:fillRect/>
          </a:stretch>
        </p:blipFill>
        <p:spPr>
          <a:xfrm>
            <a:off x="1417320" y="2377440"/>
            <a:ext cx="548640" cy="548640"/>
          </a:xfrm>
          <a:prstGeom prst="rect">
            <a:avLst/>
          </a:prstGeom>
        </p:spPr>
      </p:pic>
      <p:sp>
        <p:nvSpPr>
          <p:cNvPr id="7" name="Text 3"/>
          <p:cNvSpPr/>
          <p:nvPr/>
        </p:nvSpPr>
        <p:spPr>
          <a:xfrm>
            <a:off x="685800" y="3063240"/>
            <a:ext cx="20116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Sales_Data</a:t>
            </a:r>
            <a:endParaRPr lang="en-US" sz="1500" dirty="0"/>
          </a:p>
        </p:txBody>
      </p:sp>
      <p:sp>
        <p:nvSpPr>
          <p:cNvPr id="8" name="Text 4"/>
          <p:cNvSpPr/>
          <p:nvPr/>
        </p:nvSpPr>
        <p:spPr>
          <a:xfrm>
            <a:off x="731520" y="3474720"/>
            <a:ext cx="1920240" cy="914400"/>
          </a:xfrm>
          <a:prstGeom prst="rect">
            <a:avLst/>
          </a:prstGeom>
          <a:noFill/>
          <a:ln/>
        </p:spPr>
        <p:txBody>
          <a:bodyPr wrap="square" rtlCol="0" anchor="ctr"/>
          <a:lstStyle/>
          <a:p>
            <a:pPr marL="0" indent="0" algn="ctr">
              <a:lnSpc>
                <a:spcPct val="120000"/>
              </a:lnSpc>
              <a:buNone/>
            </a:pPr>
            <a:r>
              <a:rPr lang="en-US" sz="1050" dirty="0">
                <a:solidFill>
                  <a:srgbClr val="CADCFC"/>
                </a:solidFill>
                <a:latin typeface="Calibri" pitchFamily="34" charset="0"/>
                <a:ea typeface="Calibri" pitchFamily="34" charset="-122"/>
                <a:cs typeface="Calibri" pitchFamily="34" charset="-120"/>
              </a:rPr>
              <a:t>Team logs each sale: date, rep, region, product, units, price</a:t>
            </a:r>
            <a:endParaRPr lang="en-US" sz="1050" dirty="0"/>
          </a:p>
        </p:txBody>
      </p:sp>
      <p:sp>
        <p:nvSpPr>
          <p:cNvPr id="9" name="Text 5"/>
          <p:cNvSpPr/>
          <p:nvPr/>
        </p:nvSpPr>
        <p:spPr>
          <a:xfrm>
            <a:off x="2880360" y="3017520"/>
            <a:ext cx="502920" cy="548640"/>
          </a:xfrm>
          <a:prstGeom prst="rect">
            <a:avLst/>
          </a:prstGeom>
          <a:noFill/>
          <a:ln/>
        </p:spPr>
        <p:txBody>
          <a:bodyPr wrap="square" rtlCol="0" anchor="ctr"/>
          <a:lstStyle/>
          <a:p>
            <a:pPr marL="0" indent="0" algn="ctr">
              <a:buNone/>
            </a:pPr>
            <a:r>
              <a:rPr lang="en-US" sz="2200" b="1" dirty="0">
                <a:solidFill>
                  <a:srgbClr val="B8860B"/>
                </a:solidFill>
              </a:rPr>
              <a:t>&gt;</a:t>
            </a:r>
            <a:endParaRPr lang="en-US" sz="2200" dirty="0"/>
          </a:p>
        </p:txBody>
      </p:sp>
      <p:sp>
        <p:nvSpPr>
          <p:cNvPr id="10" name="Shape 6"/>
          <p:cNvSpPr/>
          <p:nvPr/>
        </p:nvSpPr>
        <p:spPr>
          <a:xfrm>
            <a:off x="3429000" y="2103120"/>
            <a:ext cx="2286000" cy="2377440"/>
          </a:xfrm>
          <a:prstGeom prst="roundRect">
            <a:avLst>
              <a:gd name="adj" fmla="val 3200"/>
            </a:avLst>
          </a:prstGeom>
          <a:solidFill>
            <a:srgbClr val="334384"/>
          </a:solidFill>
          <a:ln/>
        </p:spPr>
      </p:sp>
      <p:pic>
        <p:nvPicPr>
          <p:cNvPr id="11" name="Image 1" descr="icons/FaCogs_white.png"/>
          <p:cNvPicPr>
            <a:picLocks noChangeAspect="1"/>
          </p:cNvPicPr>
          <p:nvPr/>
        </p:nvPicPr>
        <p:blipFill>
          <a:blip r:embed="rId4"/>
          <a:stretch>
            <a:fillRect/>
          </a:stretch>
        </p:blipFill>
        <p:spPr>
          <a:xfrm>
            <a:off x="4297680" y="2377440"/>
            <a:ext cx="548640" cy="548640"/>
          </a:xfrm>
          <a:prstGeom prst="rect">
            <a:avLst/>
          </a:prstGeom>
        </p:spPr>
      </p:pic>
      <p:sp>
        <p:nvSpPr>
          <p:cNvPr id="12" name="Text 7"/>
          <p:cNvSpPr/>
          <p:nvPr/>
        </p:nvSpPr>
        <p:spPr>
          <a:xfrm>
            <a:off x="3566160" y="3063240"/>
            <a:ext cx="20116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Auto-Calculation</a:t>
            </a:r>
            <a:endParaRPr lang="en-US" sz="1500" dirty="0"/>
          </a:p>
        </p:txBody>
      </p:sp>
      <p:sp>
        <p:nvSpPr>
          <p:cNvPr id="13" name="Text 8"/>
          <p:cNvSpPr/>
          <p:nvPr/>
        </p:nvSpPr>
        <p:spPr>
          <a:xfrm>
            <a:off x="3611880" y="3474720"/>
            <a:ext cx="1920240" cy="914400"/>
          </a:xfrm>
          <a:prstGeom prst="rect">
            <a:avLst/>
          </a:prstGeom>
          <a:noFill/>
          <a:ln/>
        </p:spPr>
        <p:txBody>
          <a:bodyPr wrap="square" rtlCol="0" anchor="ctr"/>
          <a:lstStyle/>
          <a:p>
            <a:pPr marL="0" indent="0" algn="ctr">
              <a:lnSpc>
                <a:spcPct val="120000"/>
              </a:lnSpc>
              <a:buNone/>
            </a:pPr>
            <a:r>
              <a:rPr lang="en-US" sz="1050" dirty="0">
                <a:solidFill>
                  <a:srgbClr val="CADCFC"/>
                </a:solidFill>
                <a:latin typeface="Calibri" pitchFamily="34" charset="0"/>
                <a:ea typeface="Calibri" pitchFamily="34" charset="-122"/>
                <a:cs typeface="Calibri" pitchFamily="34" charset="-120"/>
              </a:rPr>
              <a:t>Formulas compute Revenue, Cost, Profit and Margin % for every row</a:t>
            </a:r>
            <a:endParaRPr lang="en-US" sz="1050" dirty="0"/>
          </a:p>
        </p:txBody>
      </p:sp>
      <p:sp>
        <p:nvSpPr>
          <p:cNvPr id="14" name="Text 9"/>
          <p:cNvSpPr/>
          <p:nvPr/>
        </p:nvSpPr>
        <p:spPr>
          <a:xfrm>
            <a:off x="5760720" y="3017520"/>
            <a:ext cx="502920" cy="548640"/>
          </a:xfrm>
          <a:prstGeom prst="rect">
            <a:avLst/>
          </a:prstGeom>
          <a:noFill/>
          <a:ln/>
        </p:spPr>
        <p:txBody>
          <a:bodyPr wrap="square" rtlCol="0" anchor="ctr"/>
          <a:lstStyle/>
          <a:p>
            <a:pPr marL="0" indent="0" algn="ctr">
              <a:buNone/>
            </a:pPr>
            <a:r>
              <a:rPr lang="en-US" sz="2200" b="1" dirty="0">
                <a:solidFill>
                  <a:srgbClr val="B8860B"/>
                </a:solidFill>
              </a:rPr>
              <a:t>&gt;</a:t>
            </a:r>
            <a:endParaRPr lang="en-US" sz="2200" dirty="0"/>
          </a:p>
        </p:txBody>
      </p:sp>
      <p:sp>
        <p:nvSpPr>
          <p:cNvPr id="15" name="Shape 10"/>
          <p:cNvSpPr/>
          <p:nvPr/>
        </p:nvSpPr>
        <p:spPr>
          <a:xfrm>
            <a:off x="6309360" y="2103120"/>
            <a:ext cx="2286000" cy="2377440"/>
          </a:xfrm>
          <a:prstGeom prst="roundRect">
            <a:avLst>
              <a:gd name="adj" fmla="val 3200"/>
            </a:avLst>
          </a:prstGeom>
          <a:solidFill>
            <a:srgbClr val="4A5AA0"/>
          </a:solidFill>
          <a:ln/>
        </p:spPr>
      </p:sp>
      <p:pic>
        <p:nvPicPr>
          <p:cNvPr id="16" name="Image 2" descr="icons/FaChartPie_white.png"/>
          <p:cNvPicPr>
            <a:picLocks noChangeAspect="1"/>
          </p:cNvPicPr>
          <p:nvPr/>
        </p:nvPicPr>
        <p:blipFill>
          <a:blip r:embed="rId5"/>
          <a:stretch>
            <a:fillRect/>
          </a:stretch>
        </p:blipFill>
        <p:spPr>
          <a:xfrm>
            <a:off x="7178040" y="2377440"/>
            <a:ext cx="548640" cy="548640"/>
          </a:xfrm>
          <a:prstGeom prst="rect">
            <a:avLst/>
          </a:prstGeom>
        </p:spPr>
      </p:pic>
      <p:sp>
        <p:nvSpPr>
          <p:cNvPr id="17" name="Text 11"/>
          <p:cNvSpPr/>
          <p:nvPr/>
        </p:nvSpPr>
        <p:spPr>
          <a:xfrm>
            <a:off x="6446520" y="3063240"/>
            <a:ext cx="20116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Summary Sheets</a:t>
            </a:r>
            <a:endParaRPr lang="en-US" sz="1500" dirty="0"/>
          </a:p>
        </p:txBody>
      </p:sp>
      <p:sp>
        <p:nvSpPr>
          <p:cNvPr id="18" name="Text 12"/>
          <p:cNvSpPr/>
          <p:nvPr/>
        </p:nvSpPr>
        <p:spPr>
          <a:xfrm>
            <a:off x="6492240" y="3474720"/>
            <a:ext cx="1920240" cy="914400"/>
          </a:xfrm>
          <a:prstGeom prst="rect">
            <a:avLst/>
          </a:prstGeom>
          <a:noFill/>
          <a:ln/>
        </p:spPr>
        <p:txBody>
          <a:bodyPr wrap="square" rtlCol="0" anchor="ctr"/>
          <a:lstStyle/>
          <a:p>
            <a:pPr marL="0" indent="0" algn="ctr">
              <a:lnSpc>
                <a:spcPct val="120000"/>
              </a:lnSpc>
              <a:buNone/>
            </a:pPr>
            <a:r>
              <a:rPr lang="en-US" sz="1050" dirty="0">
                <a:solidFill>
                  <a:srgbClr val="CADCFC"/>
                </a:solidFill>
                <a:latin typeface="Calibri" pitchFamily="34" charset="0"/>
                <a:ea typeface="Calibri" pitchFamily="34" charset="-122"/>
                <a:cs typeface="Calibri" pitchFamily="34" charset="-120"/>
              </a:rPr>
              <a:t>Monthly, Regional, Category and Rep views roll up instantly via SUMIF</a:t>
            </a:r>
            <a:endParaRPr lang="en-US" sz="1050" dirty="0"/>
          </a:p>
        </p:txBody>
      </p:sp>
      <p:sp>
        <p:nvSpPr>
          <p:cNvPr id="19" name="Text 13"/>
          <p:cNvSpPr/>
          <p:nvPr/>
        </p:nvSpPr>
        <p:spPr>
          <a:xfrm>
            <a:off x="8641080" y="3017520"/>
            <a:ext cx="502920" cy="548640"/>
          </a:xfrm>
          <a:prstGeom prst="rect">
            <a:avLst/>
          </a:prstGeom>
          <a:noFill/>
          <a:ln/>
        </p:spPr>
        <p:txBody>
          <a:bodyPr wrap="square" rtlCol="0" anchor="ctr"/>
          <a:lstStyle/>
          <a:p>
            <a:pPr marL="0" indent="0" algn="ctr">
              <a:buNone/>
            </a:pPr>
            <a:r>
              <a:rPr lang="en-US" sz="2200" b="1" dirty="0">
                <a:solidFill>
                  <a:srgbClr val="B8860B"/>
                </a:solidFill>
              </a:rPr>
              <a:t>&gt;</a:t>
            </a:r>
            <a:endParaRPr lang="en-US" sz="2200" dirty="0"/>
          </a:p>
        </p:txBody>
      </p:sp>
      <p:sp>
        <p:nvSpPr>
          <p:cNvPr id="20" name="Shape 14"/>
          <p:cNvSpPr/>
          <p:nvPr/>
        </p:nvSpPr>
        <p:spPr>
          <a:xfrm>
            <a:off x="9189720" y="2103120"/>
            <a:ext cx="2423160" cy="2377440"/>
          </a:xfrm>
          <a:prstGeom prst="roundRect">
            <a:avLst>
              <a:gd name="adj" fmla="val 3077"/>
            </a:avLst>
          </a:prstGeom>
          <a:solidFill>
            <a:srgbClr val="B8860B"/>
          </a:solidFill>
          <a:ln/>
        </p:spPr>
      </p:sp>
      <p:pic>
        <p:nvPicPr>
          <p:cNvPr id="21" name="Image 3" descr="icons/FaBullseye_white.png"/>
          <p:cNvPicPr>
            <a:picLocks noChangeAspect="1"/>
          </p:cNvPicPr>
          <p:nvPr/>
        </p:nvPicPr>
        <p:blipFill>
          <a:blip r:embed="rId6"/>
          <a:stretch>
            <a:fillRect/>
          </a:stretch>
        </p:blipFill>
        <p:spPr>
          <a:xfrm>
            <a:off x="10104120" y="2377440"/>
            <a:ext cx="548640" cy="548640"/>
          </a:xfrm>
          <a:prstGeom prst="rect">
            <a:avLst/>
          </a:prstGeom>
        </p:spPr>
      </p:pic>
      <p:sp>
        <p:nvSpPr>
          <p:cNvPr id="22" name="Text 15"/>
          <p:cNvSpPr/>
          <p:nvPr/>
        </p:nvSpPr>
        <p:spPr>
          <a:xfrm>
            <a:off x="9281160" y="3063240"/>
            <a:ext cx="224028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Executive Dashboard</a:t>
            </a:r>
            <a:endParaRPr lang="en-US" sz="1400" dirty="0"/>
          </a:p>
        </p:txBody>
      </p:sp>
      <p:sp>
        <p:nvSpPr>
          <p:cNvPr id="23" name="Text 16"/>
          <p:cNvSpPr/>
          <p:nvPr/>
        </p:nvSpPr>
        <p:spPr>
          <a:xfrm>
            <a:off x="9326880" y="3474720"/>
            <a:ext cx="2148840" cy="914400"/>
          </a:xfrm>
          <a:prstGeom prst="rect">
            <a:avLst/>
          </a:prstGeom>
          <a:noFill/>
          <a:ln/>
        </p:spPr>
        <p:txBody>
          <a:bodyPr wrap="square" rtlCol="0" anchor="ctr"/>
          <a:lstStyle/>
          <a:p>
            <a:pPr marL="0" indent="0" algn="ctr">
              <a:lnSpc>
                <a:spcPct val="120000"/>
              </a:lnSpc>
              <a:buNone/>
            </a:pPr>
            <a:r>
              <a:rPr lang="en-US" sz="1050" dirty="0">
                <a:solidFill>
                  <a:srgbClr val="FFF7E0"/>
                </a:solidFill>
                <a:latin typeface="Calibri" pitchFamily="34" charset="0"/>
                <a:ea typeface="Calibri" pitchFamily="34" charset="-122"/>
                <a:cs typeface="Calibri" pitchFamily="34" charset="-120"/>
              </a:rPr>
              <a:t>Manager sees KPIs and charts on one page — always current</a:t>
            </a:r>
            <a:endParaRPr lang="en-US" sz="1050" dirty="0"/>
          </a:p>
        </p:txBody>
      </p:sp>
      <p:sp>
        <p:nvSpPr>
          <p:cNvPr id="24" name="Shape 17"/>
          <p:cNvSpPr/>
          <p:nvPr/>
        </p:nvSpPr>
        <p:spPr>
          <a:xfrm>
            <a:off x="548640" y="5029200"/>
            <a:ext cx="11064240" cy="1234440"/>
          </a:xfrm>
          <a:prstGeom prst="roundRect">
            <a:avLst>
              <a:gd name="adj" fmla="val 5926"/>
            </a:avLst>
          </a:prstGeom>
          <a:solidFill>
            <a:srgbClr val="F5F7FC"/>
          </a:solidFill>
          <a:ln/>
        </p:spPr>
      </p:sp>
      <p:pic>
        <p:nvPicPr>
          <p:cNvPr id="25" name="Image 4" descr="icons/FaSyncAlt_navy.png"/>
          <p:cNvPicPr>
            <a:picLocks noChangeAspect="1"/>
          </p:cNvPicPr>
          <p:nvPr/>
        </p:nvPicPr>
        <p:blipFill>
          <a:blip r:embed="rId7"/>
          <a:stretch>
            <a:fillRect/>
          </a:stretch>
        </p:blipFill>
        <p:spPr>
          <a:xfrm>
            <a:off x="822960" y="5349240"/>
            <a:ext cx="502920" cy="502920"/>
          </a:xfrm>
          <a:prstGeom prst="rect">
            <a:avLst/>
          </a:prstGeom>
        </p:spPr>
      </p:pic>
      <p:sp>
        <p:nvSpPr>
          <p:cNvPr id="26" name="Text 18"/>
          <p:cNvSpPr/>
          <p:nvPr/>
        </p:nvSpPr>
        <p:spPr>
          <a:xfrm>
            <a:off x="1508760" y="5212080"/>
            <a:ext cx="9784080" cy="914400"/>
          </a:xfrm>
          <a:prstGeom prst="rect">
            <a:avLst/>
          </a:prstGeom>
          <a:noFill/>
          <a:ln/>
        </p:spPr>
        <p:txBody>
          <a:bodyPr wrap="square" rtlCol="0" anchor="ctr"/>
          <a:lstStyle/>
          <a:p>
            <a:pPr marL="0" indent="0">
              <a:lnSpc>
                <a:spcPct val="125000"/>
              </a:lnSpc>
              <a:buNone/>
            </a:pPr>
            <a:r>
              <a:rPr lang="en-US" sz="1250" b="1" dirty="0">
                <a:solidFill>
                  <a:srgbClr val="1E2761"/>
                </a:solidFill>
                <a:latin typeface="Calibri" pitchFamily="34" charset="0"/>
                <a:ea typeface="Calibri" pitchFamily="34" charset="-122"/>
                <a:cs typeface="Calibri" pitchFamily="34" charset="-120"/>
              </a:rPr>
              <a:t>Always in sync:  </a:t>
            </a:r>
            <a:r>
              <a:rPr lang="en-US" sz="1250" dirty="0">
                <a:solidFill>
                  <a:srgbClr val="3A3A3A"/>
                </a:solidFill>
                <a:latin typeface="Calibri" pitchFamily="34" charset="0"/>
                <a:ea typeface="Calibri" pitchFamily="34" charset="-122"/>
                <a:cs typeface="Calibri" pitchFamily="34" charset="-120"/>
              </a:rPr>
              <a:t>Because every report is formula-linked to Sales_Data, adding one new row updates the Dashboard, all summaries, and the Target tracker at the same time — no manual refresh, no re-typing totals.</a:t>
            </a:r>
            <a:endParaRPr lang="en-US" sz="1250" dirty="0"/>
          </a:p>
        </p:txBody>
      </p:sp>
      <p:sp>
        <p:nvSpPr>
          <p:cNvPr id="27" name="Text 19"/>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28" name="Text 20"/>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Key Features</a:t>
            </a:r>
            <a:endParaRPr lang="en-US" sz="3000" dirty="0"/>
          </a:p>
        </p:txBody>
      </p:sp>
      <p:sp>
        <p:nvSpPr>
          <p:cNvPr id="4" name="Shape 1"/>
          <p:cNvSpPr/>
          <p:nvPr/>
        </p:nvSpPr>
        <p:spPr>
          <a:xfrm>
            <a:off x="548640" y="1280160"/>
            <a:ext cx="3566160" cy="1691640"/>
          </a:xfrm>
          <a:prstGeom prst="roundRect">
            <a:avLst>
              <a:gd name="adj" fmla="val 3784"/>
            </a:avLst>
          </a:prstGeom>
          <a:solidFill>
            <a:srgbClr val="F5F7FC"/>
          </a:solidFill>
          <a:ln/>
        </p:spPr>
      </p:sp>
      <p:sp>
        <p:nvSpPr>
          <p:cNvPr id="5" name="Shape 2"/>
          <p:cNvSpPr/>
          <p:nvPr/>
        </p:nvSpPr>
        <p:spPr>
          <a:xfrm>
            <a:off x="777240" y="1508760"/>
            <a:ext cx="548640" cy="548640"/>
          </a:xfrm>
          <a:prstGeom prst="ellipse">
            <a:avLst/>
          </a:prstGeom>
          <a:solidFill>
            <a:srgbClr val="1E2761"/>
          </a:solidFill>
          <a:ln/>
        </p:spPr>
      </p:sp>
      <p:pic>
        <p:nvPicPr>
          <p:cNvPr id="6" name="Image 0" descr="icons/FaDatabase_white.png"/>
          <p:cNvPicPr>
            <a:picLocks noChangeAspect="1"/>
          </p:cNvPicPr>
          <p:nvPr/>
        </p:nvPicPr>
        <p:blipFill>
          <a:blip r:embed="rId3"/>
          <a:stretch>
            <a:fillRect/>
          </a:stretch>
        </p:blipFill>
        <p:spPr>
          <a:xfrm>
            <a:off x="905256" y="1636776"/>
            <a:ext cx="292608" cy="292608"/>
          </a:xfrm>
          <a:prstGeom prst="rect">
            <a:avLst/>
          </a:prstGeom>
        </p:spPr>
      </p:pic>
      <p:sp>
        <p:nvSpPr>
          <p:cNvPr id="7" name="Text 3"/>
          <p:cNvSpPr/>
          <p:nvPr/>
        </p:nvSpPr>
        <p:spPr>
          <a:xfrm>
            <a:off x="1463040" y="146304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Centralized Data</a:t>
            </a:r>
            <a:endParaRPr lang="en-US" sz="1400" dirty="0"/>
          </a:p>
        </p:txBody>
      </p:sp>
      <p:sp>
        <p:nvSpPr>
          <p:cNvPr id="8" name="Text 4"/>
          <p:cNvSpPr/>
          <p:nvPr/>
        </p:nvSpPr>
        <p:spPr>
          <a:xfrm>
            <a:off x="777240" y="214884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One structured table is the single source of truth for every sale.</a:t>
            </a:r>
            <a:endParaRPr lang="en-US" sz="1100" dirty="0"/>
          </a:p>
        </p:txBody>
      </p:sp>
      <p:sp>
        <p:nvSpPr>
          <p:cNvPr id="9" name="Shape 5"/>
          <p:cNvSpPr/>
          <p:nvPr/>
        </p:nvSpPr>
        <p:spPr>
          <a:xfrm>
            <a:off x="4297680" y="1280160"/>
            <a:ext cx="3566160" cy="1691640"/>
          </a:xfrm>
          <a:prstGeom prst="roundRect">
            <a:avLst>
              <a:gd name="adj" fmla="val 3784"/>
            </a:avLst>
          </a:prstGeom>
          <a:solidFill>
            <a:srgbClr val="F5F7FC"/>
          </a:solidFill>
          <a:ln/>
        </p:spPr>
      </p:sp>
      <p:sp>
        <p:nvSpPr>
          <p:cNvPr id="10" name="Shape 6"/>
          <p:cNvSpPr/>
          <p:nvPr/>
        </p:nvSpPr>
        <p:spPr>
          <a:xfrm>
            <a:off x="4526280" y="1508760"/>
            <a:ext cx="548640" cy="548640"/>
          </a:xfrm>
          <a:prstGeom prst="ellipse">
            <a:avLst/>
          </a:prstGeom>
          <a:solidFill>
            <a:srgbClr val="1E2761"/>
          </a:solidFill>
          <a:ln/>
        </p:spPr>
      </p:sp>
      <p:pic>
        <p:nvPicPr>
          <p:cNvPr id="11" name="Image 1" descr="icons/FaChartLine_white.png"/>
          <p:cNvPicPr>
            <a:picLocks noChangeAspect="1"/>
          </p:cNvPicPr>
          <p:nvPr/>
        </p:nvPicPr>
        <p:blipFill>
          <a:blip r:embed="rId4"/>
          <a:stretch>
            <a:fillRect/>
          </a:stretch>
        </p:blipFill>
        <p:spPr>
          <a:xfrm>
            <a:off x="4654296" y="1636776"/>
            <a:ext cx="292608" cy="292608"/>
          </a:xfrm>
          <a:prstGeom prst="rect">
            <a:avLst/>
          </a:prstGeom>
        </p:spPr>
      </p:pic>
      <p:sp>
        <p:nvSpPr>
          <p:cNvPr id="12" name="Text 7"/>
          <p:cNvSpPr/>
          <p:nvPr/>
        </p:nvSpPr>
        <p:spPr>
          <a:xfrm>
            <a:off x="5212080" y="146304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Live KPI Dashboard</a:t>
            </a:r>
            <a:endParaRPr lang="en-US" sz="1400" dirty="0"/>
          </a:p>
        </p:txBody>
      </p:sp>
      <p:sp>
        <p:nvSpPr>
          <p:cNvPr id="13" name="Text 8"/>
          <p:cNvSpPr/>
          <p:nvPr/>
        </p:nvSpPr>
        <p:spPr>
          <a:xfrm>
            <a:off x="4526280" y="214884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Revenue, profit, margin, orders and AOV update the instant data changes.</a:t>
            </a:r>
            <a:endParaRPr lang="en-US" sz="1100" dirty="0"/>
          </a:p>
        </p:txBody>
      </p:sp>
      <p:sp>
        <p:nvSpPr>
          <p:cNvPr id="14" name="Shape 9"/>
          <p:cNvSpPr/>
          <p:nvPr/>
        </p:nvSpPr>
        <p:spPr>
          <a:xfrm>
            <a:off x="8046720" y="1280160"/>
            <a:ext cx="3566160" cy="1691640"/>
          </a:xfrm>
          <a:prstGeom prst="roundRect">
            <a:avLst>
              <a:gd name="adj" fmla="val 3784"/>
            </a:avLst>
          </a:prstGeom>
          <a:solidFill>
            <a:srgbClr val="F5F7FC"/>
          </a:solidFill>
          <a:ln/>
        </p:spPr>
      </p:sp>
      <p:sp>
        <p:nvSpPr>
          <p:cNvPr id="15" name="Shape 10"/>
          <p:cNvSpPr/>
          <p:nvPr/>
        </p:nvSpPr>
        <p:spPr>
          <a:xfrm>
            <a:off x="8275320" y="1508760"/>
            <a:ext cx="548640" cy="548640"/>
          </a:xfrm>
          <a:prstGeom prst="ellipse">
            <a:avLst/>
          </a:prstGeom>
          <a:solidFill>
            <a:srgbClr val="1E2761"/>
          </a:solidFill>
          <a:ln/>
        </p:spPr>
      </p:sp>
      <p:pic>
        <p:nvPicPr>
          <p:cNvPr id="16" name="Image 2" descr="icons/FaMapMarkedAlt_white.png"/>
          <p:cNvPicPr>
            <a:picLocks noChangeAspect="1"/>
          </p:cNvPicPr>
          <p:nvPr/>
        </p:nvPicPr>
        <p:blipFill>
          <a:blip r:embed="rId5"/>
          <a:stretch>
            <a:fillRect/>
          </a:stretch>
        </p:blipFill>
        <p:spPr>
          <a:xfrm>
            <a:off x="8403336" y="1636776"/>
            <a:ext cx="292608" cy="292608"/>
          </a:xfrm>
          <a:prstGeom prst="rect">
            <a:avLst/>
          </a:prstGeom>
        </p:spPr>
      </p:pic>
      <p:sp>
        <p:nvSpPr>
          <p:cNvPr id="17" name="Text 11"/>
          <p:cNvSpPr/>
          <p:nvPr/>
        </p:nvSpPr>
        <p:spPr>
          <a:xfrm>
            <a:off x="8961120" y="146304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Regional Breakdown</a:t>
            </a:r>
            <a:endParaRPr lang="en-US" sz="1400" dirty="0"/>
          </a:p>
        </p:txBody>
      </p:sp>
      <p:sp>
        <p:nvSpPr>
          <p:cNvPr id="18" name="Text 12"/>
          <p:cNvSpPr/>
          <p:nvPr/>
        </p:nvSpPr>
        <p:spPr>
          <a:xfrm>
            <a:off x="8275320" y="214884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Revenue and profit split by North, South, East and West.</a:t>
            </a:r>
            <a:endParaRPr lang="en-US" sz="1100" dirty="0"/>
          </a:p>
        </p:txBody>
      </p:sp>
      <p:sp>
        <p:nvSpPr>
          <p:cNvPr id="19" name="Shape 13"/>
          <p:cNvSpPr/>
          <p:nvPr/>
        </p:nvSpPr>
        <p:spPr>
          <a:xfrm>
            <a:off x="548640" y="3200400"/>
            <a:ext cx="3566160" cy="1691640"/>
          </a:xfrm>
          <a:prstGeom prst="roundRect">
            <a:avLst>
              <a:gd name="adj" fmla="val 3784"/>
            </a:avLst>
          </a:prstGeom>
          <a:solidFill>
            <a:srgbClr val="F5F7FC"/>
          </a:solidFill>
          <a:ln/>
        </p:spPr>
      </p:sp>
      <p:sp>
        <p:nvSpPr>
          <p:cNvPr id="20" name="Shape 14"/>
          <p:cNvSpPr/>
          <p:nvPr/>
        </p:nvSpPr>
        <p:spPr>
          <a:xfrm>
            <a:off x="777240" y="3429000"/>
            <a:ext cx="548640" cy="548640"/>
          </a:xfrm>
          <a:prstGeom prst="ellipse">
            <a:avLst/>
          </a:prstGeom>
          <a:solidFill>
            <a:srgbClr val="1E2761"/>
          </a:solidFill>
          <a:ln/>
        </p:spPr>
      </p:sp>
      <p:pic>
        <p:nvPicPr>
          <p:cNvPr id="21" name="Image 3" descr="icons/FaBoxes_white.png"/>
          <p:cNvPicPr>
            <a:picLocks noChangeAspect="1"/>
          </p:cNvPicPr>
          <p:nvPr/>
        </p:nvPicPr>
        <p:blipFill>
          <a:blip r:embed="rId6"/>
          <a:stretch>
            <a:fillRect/>
          </a:stretch>
        </p:blipFill>
        <p:spPr>
          <a:xfrm>
            <a:off x="905256" y="3557016"/>
            <a:ext cx="292608" cy="292608"/>
          </a:xfrm>
          <a:prstGeom prst="rect">
            <a:avLst/>
          </a:prstGeom>
        </p:spPr>
      </p:pic>
      <p:sp>
        <p:nvSpPr>
          <p:cNvPr id="22" name="Text 15"/>
          <p:cNvSpPr/>
          <p:nvPr/>
        </p:nvSpPr>
        <p:spPr>
          <a:xfrm>
            <a:off x="1463040" y="338328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Category Analysis</a:t>
            </a:r>
            <a:endParaRPr lang="en-US" sz="1400" dirty="0"/>
          </a:p>
        </p:txBody>
      </p:sp>
      <p:sp>
        <p:nvSpPr>
          <p:cNvPr id="23" name="Text 16"/>
          <p:cNvSpPr/>
          <p:nvPr/>
        </p:nvSpPr>
        <p:spPr>
          <a:xfrm>
            <a:off x="777240" y="406908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Performance by product category — Electronics, Furniture, Software and more.</a:t>
            </a:r>
            <a:endParaRPr lang="en-US" sz="1100" dirty="0"/>
          </a:p>
        </p:txBody>
      </p:sp>
      <p:sp>
        <p:nvSpPr>
          <p:cNvPr id="24" name="Shape 17"/>
          <p:cNvSpPr/>
          <p:nvPr/>
        </p:nvSpPr>
        <p:spPr>
          <a:xfrm>
            <a:off x="4297680" y="3200400"/>
            <a:ext cx="3566160" cy="1691640"/>
          </a:xfrm>
          <a:prstGeom prst="roundRect">
            <a:avLst>
              <a:gd name="adj" fmla="val 3784"/>
            </a:avLst>
          </a:prstGeom>
          <a:solidFill>
            <a:srgbClr val="F5F7FC"/>
          </a:solidFill>
          <a:ln/>
        </p:spPr>
      </p:sp>
      <p:sp>
        <p:nvSpPr>
          <p:cNvPr id="25" name="Shape 18"/>
          <p:cNvSpPr/>
          <p:nvPr/>
        </p:nvSpPr>
        <p:spPr>
          <a:xfrm>
            <a:off x="4526280" y="3429000"/>
            <a:ext cx="548640" cy="548640"/>
          </a:xfrm>
          <a:prstGeom prst="ellipse">
            <a:avLst/>
          </a:prstGeom>
          <a:solidFill>
            <a:srgbClr val="1E2761"/>
          </a:solidFill>
          <a:ln/>
        </p:spPr>
      </p:sp>
      <p:pic>
        <p:nvPicPr>
          <p:cNvPr id="26" name="Image 4" descr="icons/FaTrophy_white.png"/>
          <p:cNvPicPr>
            <a:picLocks noChangeAspect="1"/>
          </p:cNvPicPr>
          <p:nvPr/>
        </p:nvPicPr>
        <p:blipFill>
          <a:blip r:embed="rId7"/>
          <a:stretch>
            <a:fillRect/>
          </a:stretch>
        </p:blipFill>
        <p:spPr>
          <a:xfrm>
            <a:off x="4654296" y="3557016"/>
            <a:ext cx="292608" cy="292608"/>
          </a:xfrm>
          <a:prstGeom prst="rect">
            <a:avLst/>
          </a:prstGeom>
        </p:spPr>
      </p:pic>
      <p:sp>
        <p:nvSpPr>
          <p:cNvPr id="27" name="Text 19"/>
          <p:cNvSpPr/>
          <p:nvPr/>
        </p:nvSpPr>
        <p:spPr>
          <a:xfrm>
            <a:off x="5212080" y="338328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Rep Scorecards</a:t>
            </a:r>
            <a:endParaRPr lang="en-US" sz="1400" dirty="0"/>
          </a:p>
        </p:txBody>
      </p:sp>
      <p:sp>
        <p:nvSpPr>
          <p:cNvPr id="28" name="Text 20"/>
          <p:cNvSpPr/>
          <p:nvPr/>
        </p:nvSpPr>
        <p:spPr>
          <a:xfrm>
            <a:off x="4526280" y="406908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Ranked leaderboard of sales reps by revenue and average deal size.</a:t>
            </a:r>
            <a:endParaRPr lang="en-US" sz="1100" dirty="0"/>
          </a:p>
        </p:txBody>
      </p:sp>
      <p:sp>
        <p:nvSpPr>
          <p:cNvPr id="29" name="Shape 21"/>
          <p:cNvSpPr/>
          <p:nvPr/>
        </p:nvSpPr>
        <p:spPr>
          <a:xfrm>
            <a:off x="8046720" y="3200400"/>
            <a:ext cx="3566160" cy="1691640"/>
          </a:xfrm>
          <a:prstGeom prst="roundRect">
            <a:avLst>
              <a:gd name="adj" fmla="val 3784"/>
            </a:avLst>
          </a:prstGeom>
          <a:solidFill>
            <a:srgbClr val="F5F7FC"/>
          </a:solidFill>
          <a:ln/>
        </p:spPr>
      </p:sp>
      <p:sp>
        <p:nvSpPr>
          <p:cNvPr id="30" name="Shape 22"/>
          <p:cNvSpPr/>
          <p:nvPr/>
        </p:nvSpPr>
        <p:spPr>
          <a:xfrm>
            <a:off x="8275320" y="3429000"/>
            <a:ext cx="548640" cy="548640"/>
          </a:xfrm>
          <a:prstGeom prst="ellipse">
            <a:avLst/>
          </a:prstGeom>
          <a:solidFill>
            <a:srgbClr val="1E2761"/>
          </a:solidFill>
          <a:ln/>
        </p:spPr>
      </p:sp>
      <p:pic>
        <p:nvPicPr>
          <p:cNvPr id="31" name="Image 5" descr="icons/FaBullseye_white.png"/>
          <p:cNvPicPr>
            <a:picLocks noChangeAspect="1"/>
          </p:cNvPicPr>
          <p:nvPr/>
        </p:nvPicPr>
        <p:blipFill>
          <a:blip r:embed="rId8"/>
          <a:stretch>
            <a:fillRect/>
          </a:stretch>
        </p:blipFill>
        <p:spPr>
          <a:xfrm>
            <a:off x="8403336" y="3557016"/>
            <a:ext cx="292608" cy="292608"/>
          </a:xfrm>
          <a:prstGeom prst="rect">
            <a:avLst/>
          </a:prstGeom>
        </p:spPr>
      </p:pic>
      <p:sp>
        <p:nvSpPr>
          <p:cNvPr id="32" name="Text 23"/>
          <p:cNvSpPr/>
          <p:nvPr/>
        </p:nvSpPr>
        <p:spPr>
          <a:xfrm>
            <a:off x="8961120" y="3383280"/>
            <a:ext cx="246888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Target Tracking</a:t>
            </a:r>
            <a:endParaRPr lang="en-US" sz="1400" dirty="0"/>
          </a:p>
        </p:txBody>
      </p:sp>
      <p:sp>
        <p:nvSpPr>
          <p:cNvPr id="33" name="Text 24"/>
          <p:cNvSpPr/>
          <p:nvPr/>
        </p:nvSpPr>
        <p:spPr>
          <a:xfrm>
            <a:off x="8275320" y="4069080"/>
            <a:ext cx="3108960" cy="731520"/>
          </a:xfrm>
          <a:prstGeom prst="rect">
            <a:avLst/>
          </a:prstGeom>
          <a:noFill/>
          <a:ln/>
        </p:spPr>
        <p:txBody>
          <a:bodyPr wrap="square" rtlCol="0" anchor="ctr"/>
          <a:lstStyle/>
          <a:p>
            <a:pPr marL="0" indent="0">
              <a:lnSpc>
                <a:spcPct val="120000"/>
              </a:lnSpc>
              <a:buNone/>
            </a:pPr>
            <a:r>
              <a:rPr lang="en-US" sz="1100" dirty="0">
                <a:solidFill>
                  <a:srgbClr val="6B6B6B"/>
                </a:solidFill>
                <a:latin typeface="Calibri" pitchFamily="34" charset="0"/>
                <a:ea typeface="Calibri" pitchFamily="34" charset="-122"/>
                <a:cs typeface="Calibri" pitchFamily="34" charset="-120"/>
              </a:rPr>
              <a:t>Monthly targets vs. actuals with automatic achievement status flags.</a:t>
            </a:r>
            <a:endParaRPr lang="en-US" sz="1100" dirty="0"/>
          </a:p>
        </p:txBody>
      </p:sp>
      <p:sp>
        <p:nvSpPr>
          <p:cNvPr id="34" name="Text 25"/>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35" name="Text 26"/>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Captured Per Sale</a:t>
            </a:r>
            <a:endParaRPr lang="en-US" sz="3000" dirty="0"/>
          </a:p>
        </p:txBody>
      </p:sp>
      <p:sp>
        <p:nvSpPr>
          <p:cNvPr id="4" name="Text 1"/>
          <p:cNvSpPr/>
          <p:nvPr/>
        </p:nvSpPr>
        <p:spPr>
          <a:xfrm>
            <a:off x="548640" y="1051560"/>
            <a:ext cx="10515600" cy="457200"/>
          </a:xfrm>
          <a:prstGeom prst="rect">
            <a:avLst/>
          </a:prstGeom>
          <a:noFill/>
          <a:ln/>
        </p:spPr>
        <p:txBody>
          <a:bodyPr wrap="square" rtlCol="0" anchor="ctr"/>
          <a:lstStyle/>
          <a:p>
            <a:pPr marL="0" indent="0">
              <a:buNone/>
            </a:pPr>
            <a:r>
              <a:rPr lang="en-US" sz="1350" dirty="0">
                <a:solidFill>
                  <a:srgbClr val="6B6B6B"/>
                </a:solidFill>
                <a:latin typeface="Calibri" pitchFamily="34" charset="0"/>
                <a:ea typeface="Calibri" pitchFamily="34" charset="-122"/>
                <a:cs typeface="Calibri" pitchFamily="34" charset="-120"/>
              </a:rPr>
              <a:t>Every transaction logged in Sales_Data carries 15 fields — 9 entered by the team, 6 calculated automatically.</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291840"/>
        </p:xfrm>
        <a:graphic>
          <a:graphicData uri="http://schemas.openxmlformats.org/drawingml/2006/table">
            <a:tbl>
              <a:tblPr/>
              <a:tblGrid>
                <a:gridCol w="4572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Sale ID, Date, Region, Sales Rep</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Entered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Identifies who sold what, where, and when</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Category, Product, Customer Type</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Entered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Describes what was sold and to whom</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Units Sold, Unit Price, Unit Cost</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Entered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The raw numbers behind each transaction</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Revenue, Cost, Profit, Margin %</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Auto-calculated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Computed instantly by formula — never typed manually</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Month</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Auto-calculated</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tc>
                  <a:txBody>
                    <a:bodyPr/>
                    <a:lstStyle/>
                    <a:p>
                      <a:pPr marL="0" indent="0">
                        <a:buNone/>
                      </a:pPr>
                      <a:r>
                        <a:rPr lang="en-US" sz="1200" dirty="0">
                          <a:solidFill>
                            <a:srgbClr val="3A3A3A"/>
                          </a:solidFill>
                          <a:latin typeface="Calibri" pitchFamily="34" charset="0"/>
                          <a:ea typeface="Calibri" pitchFamily="34" charset="-122"/>
                          <a:cs typeface="Calibri" pitchFamily="34" charset="-120"/>
                        </a:rPr>
                        <a:t>Extracted from Date to power monthly roll-ups</a:t>
                      </a:r>
                      <a:endParaRPr lang="en-US" sz="1200" dirty="0">
                        <a:latin typeface="Calibri" charset="0"/>
                        <a:ea typeface="Calibri" charset="0"/>
                        <a:cs typeface="Calibri" charset="0"/>
                      </a:endParaRPr>
                    </a:p>
                  </a:txBody>
                  <a:tcPr anchor="ctr">
                    <a:lnL w="9525" cap="flat" cmpd="sng" algn="ctr">
                      <a:solidFill>
                        <a:srgbClr val="E1E5F0"/>
                      </a:solidFill>
                      <a:prstDash val="solid"/>
                      <a:round/>
                      <a:headEnd type="none" w="med" len="med"/>
                      <a:tailEnd type="none" w="med" len="med"/>
                    </a:lnL>
                    <a:lnR w="9525" cap="flat" cmpd="sng" algn="ctr">
                      <a:solidFill>
                        <a:srgbClr val="E1E5F0"/>
                      </a:solidFill>
                      <a:prstDash val="solid"/>
                      <a:round/>
                      <a:headEnd type="none" w="med" len="med"/>
                      <a:tailEnd type="none" w="med" len="med"/>
                    </a:lnR>
                    <a:lnT w="9525" cap="flat" cmpd="sng" algn="ctr">
                      <a:solidFill>
                        <a:srgbClr val="E1E5F0"/>
                      </a:solidFill>
                      <a:prstDash val="solid"/>
                      <a:round/>
                      <a:headEnd type="none" w="med" len="med"/>
                      <a:tailEnd type="none" w="med" len="med"/>
                    </a:lnT>
                    <a:lnB w="9525" cap="flat" cmpd="sng" algn="ctr">
                      <a:solidFill>
                        <a:srgbClr val="E1E5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2"/>
          <p:cNvSpPr/>
          <p:nvPr/>
        </p:nvSpPr>
        <p:spPr>
          <a:xfrm>
            <a:off x="548640" y="5257800"/>
            <a:ext cx="11064240" cy="914400"/>
          </a:xfrm>
          <a:prstGeom prst="roundRect">
            <a:avLst>
              <a:gd name="adj" fmla="val 6000"/>
            </a:avLst>
          </a:prstGeom>
          <a:solidFill>
            <a:srgbClr val="F5F7FC"/>
          </a:solidFill>
          <a:ln/>
        </p:spPr>
      </p:sp>
      <p:pic>
        <p:nvPicPr>
          <p:cNvPr id="7" name="Image 0" descr="icons/FaLightbulb_navy.png"/>
          <p:cNvPicPr>
            <a:picLocks noChangeAspect="1"/>
          </p:cNvPicPr>
          <p:nvPr/>
        </p:nvPicPr>
        <p:blipFill>
          <a:blip r:embed="rId3"/>
          <a:stretch>
            <a:fillRect/>
          </a:stretch>
        </p:blipFill>
        <p:spPr>
          <a:xfrm>
            <a:off x="777240" y="5486400"/>
            <a:ext cx="457200" cy="457200"/>
          </a:xfrm>
          <a:prstGeom prst="rect">
            <a:avLst/>
          </a:prstGeom>
        </p:spPr>
      </p:pic>
      <p:sp>
        <p:nvSpPr>
          <p:cNvPr id="2" name="Text 3"/>
          <p:cNvSpPr/>
          <p:nvPr/>
        </p:nvSpPr>
        <p:spPr>
          <a:xfrm>
            <a:off x="1417320" y="5349240"/>
            <a:ext cx="9966960" cy="640080"/>
          </a:xfrm>
          <a:prstGeom prst="rect">
            <a:avLst/>
          </a:prstGeom>
          <a:noFill/>
          <a:ln/>
        </p:spPr>
        <p:txBody>
          <a:bodyPr wrap="square"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The team only ever types into the blue-colored input cells — everything else is formula-driven and protected from accidental edits.</a:t>
            </a:r>
            <a:endParaRPr lang="en-US" sz="1200" dirty="0"/>
          </a:p>
        </p:txBody>
      </p:sp>
      <p:sp>
        <p:nvSpPr>
          <p:cNvPr id="9" name="Text 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10" name="Text 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3" name="Text 0"/>
          <p:cNvSpPr/>
          <p:nvPr/>
        </p:nvSpPr>
        <p:spPr>
          <a:xfrm>
            <a:off x="548640" y="365760"/>
            <a:ext cx="73152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Dashboard Preview</a:t>
            </a:r>
            <a:endParaRPr lang="en-US" sz="2600" dirty="0"/>
          </a:p>
        </p:txBody>
      </p:sp>
      <p:sp>
        <p:nvSpPr>
          <p:cNvPr id="4" name="Text 1"/>
          <p:cNvSpPr/>
          <p:nvPr/>
        </p:nvSpPr>
        <p:spPr>
          <a:xfrm>
            <a:off x="548640" y="868680"/>
            <a:ext cx="7315200" cy="36576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Live view from the Dashboard tab of Sales_Revenue_Tracker.xlsx</a:t>
            </a:r>
            <a:endParaRPr lang="en-US" sz="1250" dirty="0"/>
          </a:p>
        </p:txBody>
      </p:sp>
      <p:sp>
        <p:nvSpPr>
          <p:cNvPr id="5" name="Shape 2"/>
          <p:cNvSpPr/>
          <p:nvPr/>
        </p:nvSpPr>
        <p:spPr>
          <a:xfrm>
            <a:off x="502920" y="1371600"/>
            <a:ext cx="8092440" cy="5120640"/>
          </a:xfrm>
          <a:prstGeom prst="rect">
            <a:avLst/>
          </a:prstGeom>
          <a:solidFill>
            <a:srgbClr val="FFFFFF"/>
          </a:solidFill>
          <a:ln/>
          <a:effectLst>
            <a:outerShdw blurRad="177800" dist="50800" dir="5400000" algn="bl" rotWithShape="0">
              <a:srgbClr val="000000">
                <a:alpha val="35000"/>
              </a:srgbClr>
            </a:outerShdw>
          </a:effectLst>
        </p:spPr>
      </p:sp>
      <p:pic>
        <p:nvPicPr>
          <p:cNvPr id="6" name="Image 0" descr="dashboard_crop.png"/>
          <p:cNvPicPr>
            <a:picLocks noChangeAspect="1"/>
          </p:cNvPicPr>
          <p:nvPr/>
        </p:nvPicPr>
        <p:blipFill>
          <a:blip r:embed="rId3"/>
          <a:srcRect/>
          <a:stretch/>
        </p:blipFill>
        <p:spPr>
          <a:xfrm>
            <a:off x="594360" y="1463040"/>
            <a:ext cx="7909560" cy="4937760"/>
          </a:xfrm>
          <a:prstGeom prst="rect">
            <a:avLst/>
          </a:prstGeom>
        </p:spPr>
      </p:pic>
      <p:sp>
        <p:nvSpPr>
          <p:cNvPr id="7" name="Shape 3"/>
          <p:cNvSpPr/>
          <p:nvPr/>
        </p:nvSpPr>
        <p:spPr>
          <a:xfrm>
            <a:off x="8915400" y="1463040"/>
            <a:ext cx="2697480" cy="1234440"/>
          </a:xfrm>
          <a:prstGeom prst="roundRect">
            <a:avLst>
              <a:gd name="adj" fmla="val 5926"/>
            </a:avLst>
          </a:prstGeom>
          <a:solidFill>
            <a:srgbClr val="263572"/>
          </a:solidFill>
          <a:ln/>
        </p:spPr>
      </p:sp>
      <p:sp>
        <p:nvSpPr>
          <p:cNvPr id="8" name="Text 4"/>
          <p:cNvSpPr/>
          <p:nvPr/>
        </p:nvSpPr>
        <p:spPr>
          <a:xfrm>
            <a:off x="9098280" y="1600200"/>
            <a:ext cx="237744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Total Revenue</a:t>
            </a:r>
            <a:endParaRPr lang="en-US" sz="1200" dirty="0"/>
          </a:p>
        </p:txBody>
      </p:sp>
      <p:sp>
        <p:nvSpPr>
          <p:cNvPr id="9" name="Text 5"/>
          <p:cNvSpPr/>
          <p:nvPr/>
        </p:nvSpPr>
        <p:spPr>
          <a:xfrm>
            <a:off x="9098280" y="1920240"/>
            <a:ext cx="237744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₹46.3L</a:t>
            </a:r>
            <a:endParaRPr lang="en-US" sz="2600" dirty="0"/>
          </a:p>
        </p:txBody>
      </p:sp>
      <p:sp>
        <p:nvSpPr>
          <p:cNvPr id="10" name="Shape 6"/>
          <p:cNvSpPr/>
          <p:nvPr/>
        </p:nvSpPr>
        <p:spPr>
          <a:xfrm>
            <a:off x="8915400" y="2971800"/>
            <a:ext cx="2697480" cy="1234440"/>
          </a:xfrm>
          <a:prstGeom prst="roundRect">
            <a:avLst>
              <a:gd name="adj" fmla="val 5926"/>
            </a:avLst>
          </a:prstGeom>
          <a:solidFill>
            <a:srgbClr val="263572"/>
          </a:solidFill>
          <a:ln/>
        </p:spPr>
      </p:sp>
      <p:sp>
        <p:nvSpPr>
          <p:cNvPr id="11" name="Text 7"/>
          <p:cNvSpPr/>
          <p:nvPr/>
        </p:nvSpPr>
        <p:spPr>
          <a:xfrm>
            <a:off x="9098280" y="3108960"/>
            <a:ext cx="237744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Overall Margin</a:t>
            </a:r>
            <a:endParaRPr lang="en-US" sz="1200" dirty="0"/>
          </a:p>
        </p:txBody>
      </p:sp>
      <p:sp>
        <p:nvSpPr>
          <p:cNvPr id="12" name="Text 8"/>
          <p:cNvSpPr/>
          <p:nvPr/>
        </p:nvSpPr>
        <p:spPr>
          <a:xfrm>
            <a:off x="9098280" y="3429000"/>
            <a:ext cx="237744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31.9%</a:t>
            </a:r>
            <a:endParaRPr lang="en-US" sz="2600" dirty="0"/>
          </a:p>
        </p:txBody>
      </p:sp>
      <p:sp>
        <p:nvSpPr>
          <p:cNvPr id="13" name="Shape 9"/>
          <p:cNvSpPr/>
          <p:nvPr/>
        </p:nvSpPr>
        <p:spPr>
          <a:xfrm>
            <a:off x="8915400" y="4480560"/>
            <a:ext cx="2697480" cy="1234440"/>
          </a:xfrm>
          <a:prstGeom prst="roundRect">
            <a:avLst>
              <a:gd name="adj" fmla="val 5926"/>
            </a:avLst>
          </a:prstGeom>
          <a:solidFill>
            <a:srgbClr val="263572"/>
          </a:solidFill>
          <a:ln/>
        </p:spPr>
      </p:sp>
      <p:sp>
        <p:nvSpPr>
          <p:cNvPr id="14" name="Text 10"/>
          <p:cNvSpPr/>
          <p:nvPr/>
        </p:nvSpPr>
        <p:spPr>
          <a:xfrm>
            <a:off x="9098280" y="4617720"/>
            <a:ext cx="237744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Total Orders</a:t>
            </a:r>
            <a:endParaRPr lang="en-US" sz="1200" dirty="0"/>
          </a:p>
        </p:txBody>
      </p:sp>
      <p:sp>
        <p:nvSpPr>
          <p:cNvPr id="15" name="Text 11"/>
          <p:cNvSpPr/>
          <p:nvPr/>
        </p:nvSpPr>
        <p:spPr>
          <a:xfrm>
            <a:off x="9098280" y="4937760"/>
            <a:ext cx="237744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220</a:t>
            </a:r>
            <a:endParaRPr lang="en-US" sz="2600" dirty="0"/>
          </a:p>
        </p:txBody>
      </p:sp>
      <p:sp>
        <p:nvSpPr>
          <p:cNvPr id="16" name="Text 12"/>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Sales Revenue Tracker System</a:t>
            </a:r>
            <a:endParaRPr lang="en-US" sz="900" dirty="0"/>
          </a:p>
        </p:txBody>
      </p:sp>
      <p:sp>
        <p:nvSpPr>
          <p:cNvPr id="17" name="Text 1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65760"/>
            <a:ext cx="9144000" cy="54864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Performance Insights — H1 2026</a:t>
            </a:r>
            <a:endParaRPr lang="en-US" sz="2600" dirty="0"/>
          </a:p>
        </p:txBody>
      </p:sp>
      <p:graphicFrame>
        <p:nvGraphicFramePr>
          <p:cNvPr id="4" name="Chart 0"/>
          <p:cNvGraphicFramePr/>
          <p:nvPr/>
        </p:nvGraphicFramePr>
        <p:xfrm>
          <a:off x="457200" y="1051560"/>
          <a:ext cx="566928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63640" y="1051560"/>
          <a:ext cx="27432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9144000" y="1051560"/>
          <a:ext cx="2651760"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7" name="Shape 1"/>
          <p:cNvSpPr/>
          <p:nvPr/>
        </p:nvSpPr>
        <p:spPr>
          <a:xfrm>
            <a:off x="457200" y="3977640"/>
            <a:ext cx="11338560" cy="1965960"/>
          </a:xfrm>
          <a:prstGeom prst="roundRect">
            <a:avLst>
              <a:gd name="adj" fmla="val 3721"/>
            </a:avLst>
          </a:prstGeom>
          <a:solidFill>
            <a:srgbClr val="F5F7FC"/>
          </a:solidFill>
          <a:ln/>
        </p:spPr>
      </p:sp>
      <p:sp>
        <p:nvSpPr>
          <p:cNvPr id="8" name="Text 2"/>
          <p:cNvSpPr/>
          <p:nvPr/>
        </p:nvSpPr>
        <p:spPr>
          <a:xfrm>
            <a:off x="731520" y="4160520"/>
            <a:ext cx="54864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What the data tells us</a:t>
            </a:r>
            <a:endParaRPr lang="en-US" sz="1500" dirty="0"/>
          </a:p>
        </p:txBody>
      </p:sp>
      <p:sp>
        <p:nvSpPr>
          <p:cNvPr id="9" name="Text 3"/>
          <p:cNvSpPr/>
          <p:nvPr/>
        </p:nvSpPr>
        <p:spPr>
          <a:xfrm>
            <a:off x="731520" y="4572000"/>
            <a:ext cx="10789920" cy="128016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3A3A3A"/>
                </a:solidFill>
                <a:latin typeface="Calibri" pitchFamily="34" charset="0"/>
                <a:ea typeface="Calibri" pitchFamily="34" charset="-122"/>
                <a:cs typeface="Calibri" pitchFamily="34" charset="-120"/>
              </a:rPr>
              <a:t>Revenue held steady through H1, dipping slightly in Q2 before recovering to a June high.</a:t>
            </a:r>
            <a:endParaRPr lang="en-US" sz="1200" dirty="0"/>
          </a:p>
          <a:p>
            <a:pPr marL="342900" indent="-342900">
              <a:lnSpc>
                <a:spcPct val="115000"/>
              </a:lnSpc>
              <a:spcAft>
                <a:spcPts val="400"/>
              </a:spcAft>
              <a:buSzPct val="100000"/>
              <a:buChar char="•"/>
            </a:pPr>
            <a:r>
              <a:rPr lang="en-US" sz="1200" dirty="0">
                <a:solidFill>
                  <a:srgbClr val="3A3A3A"/>
                </a:solidFill>
                <a:latin typeface="Calibri" pitchFamily="34" charset="0"/>
                <a:ea typeface="Calibri" pitchFamily="34" charset="-122"/>
                <a:cs typeface="Calibri" pitchFamily="34" charset="-120"/>
              </a:rPr>
              <a:t>South and West lead regional revenue; North has the most headroom to grow.</a:t>
            </a:r>
            <a:endParaRPr lang="en-US" sz="1200" dirty="0"/>
          </a:p>
          <a:p>
            <a:pPr marL="342900" indent="-342900">
              <a:lnSpc>
                <a:spcPct val="115000"/>
              </a:lnSpc>
              <a:spcAft>
                <a:spcPts val="400"/>
              </a:spcAft>
              <a:buSzPct val="100000"/>
              <a:buChar char="•"/>
            </a:pPr>
            <a:r>
              <a:rPr lang="en-US" sz="1200" dirty="0">
                <a:solidFill>
                  <a:srgbClr val="3A3A3A"/>
                </a:solidFill>
                <a:latin typeface="Calibri" pitchFamily="34" charset="0"/>
                <a:ea typeface="Calibri" pitchFamily="34" charset="-122"/>
                <a:cs typeface="Calibri" pitchFamily="34" charset="-120"/>
              </a:rPr>
              <a:t>Software is the top-earning category despite fewer orders — high average deal size.</a:t>
            </a:r>
            <a:endParaRPr lang="en-US" sz="1200" dirty="0"/>
          </a:p>
          <a:p>
            <a:pPr marL="342900" indent="-342900">
              <a:lnSpc>
                <a:spcPct val="115000"/>
              </a:lnSpc>
              <a:spcAft>
                <a:spcPts val="400"/>
              </a:spcAft>
              <a:buSzPct val="100000"/>
              <a:buChar char="•"/>
            </a:pPr>
            <a:r>
              <a:rPr lang="en-US" sz="1200" dirty="0">
                <a:solidFill>
                  <a:srgbClr val="3A3A3A"/>
                </a:solidFill>
                <a:latin typeface="Calibri" pitchFamily="34" charset="0"/>
                <a:ea typeface="Calibri" pitchFamily="34" charset="-122"/>
                <a:cs typeface="Calibri" pitchFamily="34" charset="-120"/>
              </a:rPr>
              <a:t>Office Supplies contributes the most orders but the smallest revenue share.</a:t>
            </a:r>
            <a:endParaRPr lang="en-US" sz="1200" dirty="0"/>
          </a:p>
        </p:txBody>
      </p:sp>
      <p:sp>
        <p:nvSpPr>
          <p:cNvPr id="10" name="Text 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11" name="Text 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Business Impact</a:t>
            </a:r>
            <a:endParaRPr lang="en-US" sz="3000" dirty="0"/>
          </a:p>
        </p:txBody>
      </p:sp>
      <p:sp>
        <p:nvSpPr>
          <p:cNvPr id="4" name="Text 1"/>
          <p:cNvSpPr/>
          <p:nvPr/>
        </p:nvSpPr>
        <p:spPr>
          <a:xfrm>
            <a:off x="548640" y="1051560"/>
            <a:ext cx="9144000" cy="457200"/>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What changes for the team and the manager once this system is in use.</a:t>
            </a:r>
            <a:endParaRPr lang="en-US" sz="1350" dirty="0"/>
          </a:p>
        </p:txBody>
      </p:sp>
      <p:sp>
        <p:nvSpPr>
          <p:cNvPr id="5" name="Shape 2"/>
          <p:cNvSpPr/>
          <p:nvPr/>
        </p:nvSpPr>
        <p:spPr>
          <a:xfrm>
            <a:off x="548640" y="1828800"/>
            <a:ext cx="5394960" cy="4297680"/>
          </a:xfrm>
          <a:prstGeom prst="roundRect">
            <a:avLst>
              <a:gd name="adj" fmla="val 1702"/>
            </a:avLst>
          </a:prstGeom>
          <a:solidFill>
            <a:srgbClr val="2A3568"/>
          </a:solidFill>
          <a:ln/>
        </p:spPr>
      </p:sp>
      <p:sp>
        <p:nvSpPr>
          <p:cNvPr id="6" name="Text 3"/>
          <p:cNvSpPr/>
          <p:nvPr/>
        </p:nvSpPr>
        <p:spPr>
          <a:xfrm>
            <a:off x="822960" y="2057400"/>
            <a:ext cx="4572000" cy="365760"/>
          </a:xfrm>
          <a:prstGeom prst="rect">
            <a:avLst/>
          </a:prstGeom>
          <a:noFill/>
          <a:ln/>
        </p:spPr>
        <p:txBody>
          <a:bodyPr wrap="square" rtlCol="0" anchor="ctr"/>
          <a:lstStyle/>
          <a:p>
            <a:pPr marL="0" indent="0">
              <a:buNone/>
            </a:pPr>
            <a:r>
              <a:rPr lang="en-US" sz="1300" b="1" kern="0" spc="200" dirty="0">
                <a:solidFill>
                  <a:srgbClr val="F1B0A5"/>
                </a:solidFill>
                <a:latin typeface="Calibri" pitchFamily="34" charset="0"/>
                <a:ea typeface="Calibri" pitchFamily="34" charset="-122"/>
                <a:cs typeface="Calibri" pitchFamily="34" charset="-120"/>
              </a:rPr>
              <a:t>BEFORE</a:t>
            </a:r>
            <a:endParaRPr lang="en-US" sz="1300" dirty="0"/>
          </a:p>
        </p:txBody>
      </p:sp>
      <p:pic>
        <p:nvPicPr>
          <p:cNvPr id="7" name="Image 0" descr="icons/FaShieldAlt_white.png"/>
          <p:cNvPicPr>
            <a:picLocks noChangeAspect="1"/>
          </p:cNvPicPr>
          <p:nvPr/>
        </p:nvPicPr>
        <p:blipFill>
          <a:blip r:embed="rId3"/>
          <a:stretch>
            <a:fillRect/>
          </a:stretch>
        </p:blipFill>
        <p:spPr>
          <a:xfrm>
            <a:off x="868680" y="2606040"/>
            <a:ext cx="292608" cy="292608"/>
          </a:xfrm>
          <a:prstGeom prst="rect">
            <a:avLst/>
          </a:prstGeom>
        </p:spPr>
      </p:pic>
      <p:sp>
        <p:nvSpPr>
          <p:cNvPr id="8" name="Text 4"/>
          <p:cNvSpPr/>
          <p:nvPr/>
        </p:nvSpPr>
        <p:spPr>
          <a:xfrm>
            <a:off x="1325880" y="2542032"/>
            <a:ext cx="4434840" cy="731520"/>
          </a:xfrm>
          <a:prstGeom prst="rect">
            <a:avLst/>
          </a:prstGeom>
          <a:noFill/>
          <a:ln/>
        </p:spPr>
        <p:txBody>
          <a:bodyPr wrap="square"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3-4 hours spent compiling weekly reports by hand</a:t>
            </a:r>
            <a:endParaRPr lang="en-US" sz="1200" dirty="0"/>
          </a:p>
        </p:txBody>
      </p:sp>
      <p:pic>
        <p:nvPicPr>
          <p:cNvPr id="9" name="Image 1" descr="icons/FaShieldAlt_white.png"/>
          <p:cNvPicPr>
            <a:picLocks noChangeAspect="1"/>
          </p:cNvPicPr>
          <p:nvPr/>
        </p:nvPicPr>
        <p:blipFill>
          <a:blip r:embed="rId3"/>
          <a:stretch>
            <a:fillRect/>
          </a:stretch>
        </p:blipFill>
        <p:spPr>
          <a:xfrm>
            <a:off x="868680" y="3429000"/>
            <a:ext cx="292608" cy="292608"/>
          </a:xfrm>
          <a:prstGeom prst="rect">
            <a:avLst/>
          </a:prstGeom>
        </p:spPr>
      </p:pic>
      <p:sp>
        <p:nvSpPr>
          <p:cNvPr id="10" name="Text 5"/>
          <p:cNvSpPr/>
          <p:nvPr/>
        </p:nvSpPr>
        <p:spPr>
          <a:xfrm>
            <a:off x="1325880" y="3364992"/>
            <a:ext cx="4434840" cy="731520"/>
          </a:xfrm>
          <a:prstGeom prst="rect">
            <a:avLst/>
          </a:prstGeom>
          <a:noFill/>
          <a:ln/>
        </p:spPr>
        <p:txBody>
          <a:bodyPr wrap="square"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No consistent view of revenue by region or rep</a:t>
            </a:r>
            <a:endParaRPr lang="en-US" sz="1200" dirty="0"/>
          </a:p>
        </p:txBody>
      </p:sp>
      <p:pic>
        <p:nvPicPr>
          <p:cNvPr id="11" name="Image 2" descr="icons/FaShieldAlt_white.png"/>
          <p:cNvPicPr>
            <a:picLocks noChangeAspect="1"/>
          </p:cNvPicPr>
          <p:nvPr/>
        </p:nvPicPr>
        <p:blipFill>
          <a:blip r:embed="rId3"/>
          <a:stretch>
            <a:fillRect/>
          </a:stretch>
        </p:blipFill>
        <p:spPr>
          <a:xfrm>
            <a:off x="868680" y="4251960"/>
            <a:ext cx="292608" cy="292608"/>
          </a:xfrm>
          <a:prstGeom prst="rect">
            <a:avLst/>
          </a:prstGeom>
        </p:spPr>
      </p:pic>
      <p:sp>
        <p:nvSpPr>
          <p:cNvPr id="12" name="Text 6"/>
          <p:cNvSpPr/>
          <p:nvPr/>
        </p:nvSpPr>
        <p:spPr>
          <a:xfrm>
            <a:off x="1325880" y="4187952"/>
            <a:ext cx="4434840" cy="731520"/>
          </a:xfrm>
          <a:prstGeom prst="rect">
            <a:avLst/>
          </a:prstGeom>
          <a:noFill/>
          <a:ln/>
        </p:spPr>
        <p:txBody>
          <a:bodyPr wrap="square"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Numbers often mismatched across personal sheets</a:t>
            </a:r>
            <a:endParaRPr lang="en-US" sz="1200" dirty="0"/>
          </a:p>
        </p:txBody>
      </p:sp>
      <p:pic>
        <p:nvPicPr>
          <p:cNvPr id="13" name="Image 3" descr="icons/FaShieldAlt_white.png"/>
          <p:cNvPicPr>
            <a:picLocks noChangeAspect="1"/>
          </p:cNvPicPr>
          <p:nvPr/>
        </p:nvPicPr>
        <p:blipFill>
          <a:blip r:embed="rId3"/>
          <a:stretch>
            <a:fillRect/>
          </a:stretch>
        </p:blipFill>
        <p:spPr>
          <a:xfrm>
            <a:off x="868680" y="5074920"/>
            <a:ext cx="292608" cy="292608"/>
          </a:xfrm>
          <a:prstGeom prst="rect">
            <a:avLst/>
          </a:prstGeom>
        </p:spPr>
      </p:pic>
      <p:sp>
        <p:nvSpPr>
          <p:cNvPr id="14" name="Text 7"/>
          <p:cNvSpPr/>
          <p:nvPr/>
        </p:nvSpPr>
        <p:spPr>
          <a:xfrm>
            <a:off x="1325880" y="5010912"/>
            <a:ext cx="4434840" cy="731520"/>
          </a:xfrm>
          <a:prstGeom prst="rect">
            <a:avLst/>
          </a:prstGeom>
          <a:noFill/>
          <a:ln/>
        </p:spPr>
        <p:txBody>
          <a:bodyPr wrap="square" rtlCol="0" anchor="ctr"/>
          <a:lstStyle/>
          <a:p>
            <a:pPr marL="0" indent="0">
              <a:lnSpc>
                <a:spcPct val="115000"/>
              </a:lnSpc>
              <a:buNone/>
            </a:pPr>
            <a:r>
              <a:rPr lang="en-US" sz="1200" dirty="0">
                <a:solidFill>
                  <a:srgbClr val="CADCFC"/>
                </a:solidFill>
                <a:latin typeface="Calibri" pitchFamily="34" charset="0"/>
                <a:ea typeface="Calibri" pitchFamily="34" charset="-122"/>
                <a:cs typeface="Calibri" pitchFamily="34" charset="-120"/>
              </a:rPr>
              <a:t>Manager reviews performance after the fact</a:t>
            </a:r>
            <a:endParaRPr lang="en-US" sz="1200" dirty="0"/>
          </a:p>
        </p:txBody>
      </p:sp>
      <p:sp>
        <p:nvSpPr>
          <p:cNvPr id="15" name="Shape 8"/>
          <p:cNvSpPr/>
          <p:nvPr/>
        </p:nvSpPr>
        <p:spPr>
          <a:xfrm>
            <a:off x="6217920" y="1828800"/>
            <a:ext cx="5394960" cy="4297680"/>
          </a:xfrm>
          <a:prstGeom prst="roundRect">
            <a:avLst>
              <a:gd name="adj" fmla="val 1702"/>
            </a:avLst>
          </a:prstGeom>
          <a:solidFill>
            <a:srgbClr val="B8860B"/>
          </a:solidFill>
          <a:ln/>
        </p:spPr>
      </p:sp>
      <p:sp>
        <p:nvSpPr>
          <p:cNvPr id="16" name="Text 9"/>
          <p:cNvSpPr/>
          <p:nvPr/>
        </p:nvSpPr>
        <p:spPr>
          <a:xfrm>
            <a:off x="6492240" y="2057400"/>
            <a:ext cx="4572000" cy="365760"/>
          </a:xfrm>
          <a:prstGeom prst="rect">
            <a:avLst/>
          </a:prstGeom>
          <a:noFill/>
          <a:ln/>
        </p:spPr>
        <p:txBody>
          <a:bodyPr wrap="square" rtlCol="0" anchor="ctr"/>
          <a:lstStyle/>
          <a:p>
            <a:pPr marL="0" indent="0">
              <a:buNone/>
            </a:pPr>
            <a:r>
              <a:rPr lang="en-US" sz="1300" b="1" kern="0" spc="200" dirty="0">
                <a:solidFill>
                  <a:srgbClr val="FFF7E0"/>
                </a:solidFill>
                <a:latin typeface="Calibri" pitchFamily="34" charset="0"/>
                <a:ea typeface="Calibri" pitchFamily="34" charset="-122"/>
                <a:cs typeface="Calibri" pitchFamily="34" charset="-120"/>
              </a:rPr>
              <a:t>AFTER</a:t>
            </a:r>
            <a:endParaRPr lang="en-US" sz="1300" dirty="0"/>
          </a:p>
        </p:txBody>
      </p:sp>
      <p:pic>
        <p:nvPicPr>
          <p:cNvPr id="17" name="Image 4" descr="icons/FaCheckCircle_white.png"/>
          <p:cNvPicPr>
            <a:picLocks noChangeAspect="1"/>
          </p:cNvPicPr>
          <p:nvPr/>
        </p:nvPicPr>
        <p:blipFill>
          <a:blip r:embed="rId4"/>
          <a:stretch>
            <a:fillRect/>
          </a:stretch>
        </p:blipFill>
        <p:spPr>
          <a:xfrm>
            <a:off x="6537960" y="2606040"/>
            <a:ext cx="292608" cy="292608"/>
          </a:xfrm>
          <a:prstGeom prst="rect">
            <a:avLst/>
          </a:prstGeom>
        </p:spPr>
      </p:pic>
      <p:sp>
        <p:nvSpPr>
          <p:cNvPr id="18" name="Text 10"/>
          <p:cNvSpPr/>
          <p:nvPr/>
        </p:nvSpPr>
        <p:spPr>
          <a:xfrm>
            <a:off x="6995160" y="2542032"/>
            <a:ext cx="4480560" cy="731520"/>
          </a:xfrm>
          <a:prstGeom prst="rect">
            <a:avLst/>
          </a:prstGeom>
          <a:noFill/>
          <a:ln/>
        </p:spPr>
        <p:txBody>
          <a:bodyPr wrap="square"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Reports are always current — zero manual compilation</a:t>
            </a:r>
            <a:endParaRPr lang="en-US" sz="1200" dirty="0"/>
          </a:p>
        </p:txBody>
      </p:sp>
      <p:pic>
        <p:nvPicPr>
          <p:cNvPr id="19" name="Image 5" descr="icons/FaCheckCircle_white.png"/>
          <p:cNvPicPr>
            <a:picLocks noChangeAspect="1"/>
          </p:cNvPicPr>
          <p:nvPr/>
        </p:nvPicPr>
        <p:blipFill>
          <a:blip r:embed="rId4"/>
          <a:stretch>
            <a:fillRect/>
          </a:stretch>
        </p:blipFill>
        <p:spPr>
          <a:xfrm>
            <a:off x="6537960" y="3429000"/>
            <a:ext cx="292608" cy="292608"/>
          </a:xfrm>
          <a:prstGeom prst="rect">
            <a:avLst/>
          </a:prstGeom>
        </p:spPr>
      </p:pic>
      <p:sp>
        <p:nvSpPr>
          <p:cNvPr id="20" name="Text 11"/>
          <p:cNvSpPr/>
          <p:nvPr/>
        </p:nvSpPr>
        <p:spPr>
          <a:xfrm>
            <a:off x="6995160" y="3364992"/>
            <a:ext cx="4480560" cy="731520"/>
          </a:xfrm>
          <a:prstGeom prst="rect">
            <a:avLst/>
          </a:prstGeom>
          <a:noFill/>
          <a:ln/>
        </p:spPr>
        <p:txBody>
          <a:bodyPr wrap="square"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One dashboard shows region, category and rep performance</a:t>
            </a:r>
            <a:endParaRPr lang="en-US" sz="1200" dirty="0"/>
          </a:p>
        </p:txBody>
      </p:sp>
      <p:pic>
        <p:nvPicPr>
          <p:cNvPr id="21" name="Image 6" descr="icons/FaCheckCircle_white.png"/>
          <p:cNvPicPr>
            <a:picLocks noChangeAspect="1"/>
          </p:cNvPicPr>
          <p:nvPr/>
        </p:nvPicPr>
        <p:blipFill>
          <a:blip r:embed="rId4"/>
          <a:stretch>
            <a:fillRect/>
          </a:stretch>
        </p:blipFill>
        <p:spPr>
          <a:xfrm>
            <a:off x="6537960" y="4251960"/>
            <a:ext cx="292608" cy="292608"/>
          </a:xfrm>
          <a:prstGeom prst="rect">
            <a:avLst/>
          </a:prstGeom>
        </p:spPr>
      </p:pic>
      <p:sp>
        <p:nvSpPr>
          <p:cNvPr id="22" name="Text 12"/>
          <p:cNvSpPr/>
          <p:nvPr/>
        </p:nvSpPr>
        <p:spPr>
          <a:xfrm>
            <a:off x="6995160" y="4187952"/>
            <a:ext cx="4480560" cy="731520"/>
          </a:xfrm>
          <a:prstGeom prst="rect">
            <a:avLst/>
          </a:prstGeom>
          <a:noFill/>
          <a:ln/>
        </p:spPr>
        <p:txBody>
          <a:bodyPr wrap="square"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Single source of truth — every number traces to one row</a:t>
            </a:r>
            <a:endParaRPr lang="en-US" sz="1200" dirty="0"/>
          </a:p>
        </p:txBody>
      </p:sp>
      <p:pic>
        <p:nvPicPr>
          <p:cNvPr id="23" name="Image 7" descr="icons/FaCheckCircle_white.png"/>
          <p:cNvPicPr>
            <a:picLocks noChangeAspect="1"/>
          </p:cNvPicPr>
          <p:nvPr/>
        </p:nvPicPr>
        <p:blipFill>
          <a:blip r:embed="rId4"/>
          <a:stretch>
            <a:fillRect/>
          </a:stretch>
        </p:blipFill>
        <p:spPr>
          <a:xfrm>
            <a:off x="6537960" y="5074920"/>
            <a:ext cx="292608" cy="292608"/>
          </a:xfrm>
          <a:prstGeom prst="rect">
            <a:avLst/>
          </a:prstGeom>
        </p:spPr>
      </p:pic>
      <p:sp>
        <p:nvSpPr>
          <p:cNvPr id="24" name="Text 13"/>
          <p:cNvSpPr/>
          <p:nvPr/>
        </p:nvSpPr>
        <p:spPr>
          <a:xfrm>
            <a:off x="6995160" y="5010912"/>
            <a:ext cx="4480560" cy="731520"/>
          </a:xfrm>
          <a:prstGeom prst="rect">
            <a:avLst/>
          </a:prstGeom>
          <a:noFill/>
          <a:ln/>
        </p:spPr>
        <p:txBody>
          <a:bodyPr wrap="square"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Manager tracks targets vs. actuals in real time</a:t>
            </a:r>
            <a:endParaRPr lang="en-US" sz="1200" dirty="0"/>
          </a:p>
        </p:txBody>
      </p:sp>
      <p:sp>
        <p:nvSpPr>
          <p:cNvPr id="25" name="Text 1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Sales Revenue Tracker System</a:t>
            </a:r>
            <a:endParaRPr lang="en-US" sz="900" dirty="0"/>
          </a:p>
        </p:txBody>
      </p:sp>
      <p:sp>
        <p:nvSpPr>
          <p:cNvPr id="26" name="Text 1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Roadmap &amp; Next Steps</a:t>
            </a:r>
            <a:endParaRPr lang="en-US" sz="3000" dirty="0"/>
          </a:p>
        </p:txBody>
      </p:sp>
      <p:sp>
        <p:nvSpPr>
          <p:cNvPr id="4" name="Shape 1"/>
          <p:cNvSpPr/>
          <p:nvPr/>
        </p:nvSpPr>
        <p:spPr>
          <a:xfrm>
            <a:off x="548640" y="1600200"/>
            <a:ext cx="2606040" cy="73152"/>
          </a:xfrm>
          <a:prstGeom prst="rect">
            <a:avLst/>
          </a:prstGeom>
          <a:solidFill>
            <a:srgbClr val="1E7A46"/>
          </a:solidFill>
          <a:ln/>
        </p:spPr>
      </p:sp>
      <p:sp>
        <p:nvSpPr>
          <p:cNvPr id="5" name="Shape 2"/>
          <p:cNvSpPr/>
          <p:nvPr/>
        </p:nvSpPr>
        <p:spPr>
          <a:xfrm>
            <a:off x="548640" y="1828800"/>
            <a:ext cx="2606040" cy="3840480"/>
          </a:xfrm>
          <a:prstGeom prst="roundRect">
            <a:avLst>
              <a:gd name="adj" fmla="val 2456"/>
            </a:avLst>
          </a:prstGeom>
          <a:solidFill>
            <a:srgbClr val="F5F7FC"/>
          </a:solidFill>
          <a:ln/>
        </p:spPr>
      </p:sp>
      <p:sp>
        <p:nvSpPr>
          <p:cNvPr id="6" name="Text 3"/>
          <p:cNvSpPr/>
          <p:nvPr/>
        </p:nvSpPr>
        <p:spPr>
          <a:xfrm>
            <a:off x="731520" y="2011680"/>
            <a:ext cx="2240280" cy="320040"/>
          </a:xfrm>
          <a:prstGeom prst="rect">
            <a:avLst/>
          </a:prstGeom>
          <a:noFill/>
          <a:ln/>
        </p:spPr>
        <p:txBody>
          <a:bodyPr wrap="square" rtlCol="0" anchor="ctr"/>
          <a:lstStyle/>
          <a:p>
            <a:pPr marL="0" indent="0">
              <a:buNone/>
            </a:pPr>
            <a:r>
              <a:rPr lang="en-US" sz="1100" b="1" dirty="0">
                <a:solidFill>
                  <a:srgbClr val="1E7A46"/>
                </a:solidFill>
                <a:latin typeface="Calibri" pitchFamily="34" charset="0"/>
                <a:ea typeface="Calibri" pitchFamily="34" charset="-122"/>
                <a:cs typeface="Calibri" pitchFamily="34" charset="-120"/>
              </a:rPr>
              <a:t>Phase 1 — Now</a:t>
            </a:r>
            <a:endParaRPr lang="en-US" sz="1100" dirty="0"/>
          </a:p>
        </p:txBody>
      </p:sp>
      <p:sp>
        <p:nvSpPr>
          <p:cNvPr id="7" name="Text 4"/>
          <p:cNvSpPr/>
          <p:nvPr/>
        </p:nvSpPr>
        <p:spPr>
          <a:xfrm>
            <a:off x="731520" y="2331720"/>
            <a:ext cx="224028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Rollout</a:t>
            </a:r>
            <a:endParaRPr lang="en-US" sz="1700" dirty="0"/>
          </a:p>
        </p:txBody>
      </p:sp>
      <p:sp>
        <p:nvSpPr>
          <p:cNvPr id="8" name="Text 5"/>
          <p:cNvSpPr/>
          <p:nvPr/>
        </p:nvSpPr>
        <p:spPr>
          <a:xfrm>
            <a:off x="731520" y="2834640"/>
            <a:ext cx="2240280" cy="182880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Team adopts Sales_Data as the single entry point; manager reviews the Dashboard weekly.</a:t>
            </a:r>
            <a:endParaRPr lang="en-US" sz="1150" dirty="0"/>
          </a:p>
        </p:txBody>
      </p:sp>
      <p:sp>
        <p:nvSpPr>
          <p:cNvPr id="9" name="Shape 6"/>
          <p:cNvSpPr/>
          <p:nvPr/>
        </p:nvSpPr>
        <p:spPr>
          <a:xfrm>
            <a:off x="3410712" y="1600200"/>
            <a:ext cx="2606040" cy="73152"/>
          </a:xfrm>
          <a:prstGeom prst="rect">
            <a:avLst/>
          </a:prstGeom>
          <a:solidFill>
            <a:srgbClr val="1E2761"/>
          </a:solidFill>
          <a:ln/>
        </p:spPr>
      </p:sp>
      <p:sp>
        <p:nvSpPr>
          <p:cNvPr id="10" name="Shape 7"/>
          <p:cNvSpPr/>
          <p:nvPr/>
        </p:nvSpPr>
        <p:spPr>
          <a:xfrm>
            <a:off x="3410712" y="1828800"/>
            <a:ext cx="2606040" cy="3840480"/>
          </a:xfrm>
          <a:prstGeom prst="roundRect">
            <a:avLst>
              <a:gd name="adj" fmla="val 2456"/>
            </a:avLst>
          </a:prstGeom>
          <a:solidFill>
            <a:srgbClr val="F5F7FC"/>
          </a:solidFill>
          <a:ln/>
        </p:spPr>
      </p:sp>
      <p:sp>
        <p:nvSpPr>
          <p:cNvPr id="11" name="Text 8"/>
          <p:cNvSpPr/>
          <p:nvPr/>
        </p:nvSpPr>
        <p:spPr>
          <a:xfrm>
            <a:off x="3593592" y="2011680"/>
            <a:ext cx="2240280" cy="32004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Phase 2 — 30 Days</a:t>
            </a:r>
            <a:endParaRPr lang="en-US" sz="1100" dirty="0"/>
          </a:p>
        </p:txBody>
      </p:sp>
      <p:sp>
        <p:nvSpPr>
          <p:cNvPr id="12" name="Text 9"/>
          <p:cNvSpPr/>
          <p:nvPr/>
        </p:nvSpPr>
        <p:spPr>
          <a:xfrm>
            <a:off x="3593592" y="2331720"/>
            <a:ext cx="224028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Refine</a:t>
            </a:r>
            <a:endParaRPr lang="en-US" sz="1700" dirty="0"/>
          </a:p>
        </p:txBody>
      </p:sp>
      <p:sp>
        <p:nvSpPr>
          <p:cNvPr id="13" name="Text 10"/>
          <p:cNvSpPr/>
          <p:nvPr/>
        </p:nvSpPr>
        <p:spPr>
          <a:xfrm>
            <a:off x="3593592" y="2834640"/>
            <a:ext cx="2240280" cy="182880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Add data validation dropdowns and lock formula cells to prevent accidental edits.</a:t>
            </a:r>
            <a:endParaRPr lang="en-US" sz="1150" dirty="0"/>
          </a:p>
        </p:txBody>
      </p:sp>
      <p:sp>
        <p:nvSpPr>
          <p:cNvPr id="14" name="Shape 11"/>
          <p:cNvSpPr/>
          <p:nvPr/>
        </p:nvSpPr>
        <p:spPr>
          <a:xfrm>
            <a:off x="6272784" y="1600200"/>
            <a:ext cx="2606040" cy="73152"/>
          </a:xfrm>
          <a:prstGeom prst="rect">
            <a:avLst/>
          </a:prstGeom>
          <a:solidFill>
            <a:srgbClr val="B8860B"/>
          </a:solidFill>
          <a:ln/>
        </p:spPr>
      </p:sp>
      <p:sp>
        <p:nvSpPr>
          <p:cNvPr id="15" name="Shape 12"/>
          <p:cNvSpPr/>
          <p:nvPr/>
        </p:nvSpPr>
        <p:spPr>
          <a:xfrm>
            <a:off x="6272784" y="1828800"/>
            <a:ext cx="2606040" cy="3840480"/>
          </a:xfrm>
          <a:prstGeom prst="roundRect">
            <a:avLst>
              <a:gd name="adj" fmla="val 2456"/>
            </a:avLst>
          </a:prstGeom>
          <a:solidFill>
            <a:srgbClr val="F5F7FC"/>
          </a:solidFill>
          <a:ln/>
        </p:spPr>
      </p:sp>
      <p:sp>
        <p:nvSpPr>
          <p:cNvPr id="16" name="Text 13"/>
          <p:cNvSpPr/>
          <p:nvPr/>
        </p:nvSpPr>
        <p:spPr>
          <a:xfrm>
            <a:off x="6455664" y="2011680"/>
            <a:ext cx="2240280" cy="320040"/>
          </a:xfrm>
          <a:prstGeom prst="rect">
            <a:avLst/>
          </a:prstGeom>
          <a:noFill/>
          <a:ln/>
        </p:spPr>
        <p:txBody>
          <a:bodyPr wrap="square"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Phase 3 — 90 Days</a:t>
            </a:r>
            <a:endParaRPr lang="en-US" sz="1100" dirty="0"/>
          </a:p>
        </p:txBody>
      </p:sp>
      <p:sp>
        <p:nvSpPr>
          <p:cNvPr id="17" name="Text 14"/>
          <p:cNvSpPr/>
          <p:nvPr/>
        </p:nvSpPr>
        <p:spPr>
          <a:xfrm>
            <a:off x="6455664" y="2331720"/>
            <a:ext cx="224028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Extend</a:t>
            </a:r>
            <a:endParaRPr lang="en-US" sz="1700" dirty="0"/>
          </a:p>
        </p:txBody>
      </p:sp>
      <p:sp>
        <p:nvSpPr>
          <p:cNvPr id="18" name="Text 15"/>
          <p:cNvSpPr/>
          <p:nvPr/>
        </p:nvSpPr>
        <p:spPr>
          <a:xfrm>
            <a:off x="6455664" y="2834640"/>
            <a:ext cx="2240280" cy="182880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Introduce customer-level tracking and a quarterly forecast sheet.</a:t>
            </a:r>
            <a:endParaRPr lang="en-US" sz="1150" dirty="0"/>
          </a:p>
        </p:txBody>
      </p:sp>
      <p:sp>
        <p:nvSpPr>
          <p:cNvPr id="19" name="Shape 16"/>
          <p:cNvSpPr/>
          <p:nvPr/>
        </p:nvSpPr>
        <p:spPr>
          <a:xfrm>
            <a:off x="9134856" y="1600200"/>
            <a:ext cx="2606040" cy="73152"/>
          </a:xfrm>
          <a:prstGeom prst="rect">
            <a:avLst/>
          </a:prstGeom>
          <a:solidFill>
            <a:srgbClr val="6B6B6B"/>
          </a:solidFill>
          <a:ln/>
        </p:spPr>
      </p:sp>
      <p:sp>
        <p:nvSpPr>
          <p:cNvPr id="20" name="Shape 17"/>
          <p:cNvSpPr/>
          <p:nvPr/>
        </p:nvSpPr>
        <p:spPr>
          <a:xfrm>
            <a:off x="9134856" y="1828800"/>
            <a:ext cx="2606040" cy="3840480"/>
          </a:xfrm>
          <a:prstGeom prst="roundRect">
            <a:avLst>
              <a:gd name="adj" fmla="val 2456"/>
            </a:avLst>
          </a:prstGeom>
          <a:solidFill>
            <a:srgbClr val="F5F7FC"/>
          </a:solidFill>
          <a:ln/>
        </p:spPr>
      </p:sp>
      <p:sp>
        <p:nvSpPr>
          <p:cNvPr id="21" name="Text 18"/>
          <p:cNvSpPr/>
          <p:nvPr/>
        </p:nvSpPr>
        <p:spPr>
          <a:xfrm>
            <a:off x="9317736" y="2011680"/>
            <a:ext cx="2240280" cy="320040"/>
          </a:xfrm>
          <a:prstGeom prst="rect">
            <a:avLst/>
          </a:prstGeom>
          <a:noFill/>
          <a:ln/>
        </p:spPr>
        <p:txBody>
          <a:bodyPr wrap="square" rtlCol="0" anchor="ctr"/>
          <a:lstStyle/>
          <a:p>
            <a:pPr marL="0" indent="0">
              <a:buNone/>
            </a:pPr>
            <a:r>
              <a:rPr lang="en-US" sz="1100" b="1" dirty="0">
                <a:solidFill>
                  <a:srgbClr val="6B6B6B"/>
                </a:solidFill>
                <a:latin typeface="Calibri" pitchFamily="34" charset="0"/>
                <a:ea typeface="Calibri" pitchFamily="34" charset="-122"/>
                <a:cs typeface="Calibri" pitchFamily="34" charset="-120"/>
              </a:rPr>
              <a:t>Phase 4 — Later</a:t>
            </a:r>
            <a:endParaRPr lang="en-US" sz="1100" dirty="0"/>
          </a:p>
        </p:txBody>
      </p:sp>
      <p:sp>
        <p:nvSpPr>
          <p:cNvPr id="22" name="Text 19"/>
          <p:cNvSpPr/>
          <p:nvPr/>
        </p:nvSpPr>
        <p:spPr>
          <a:xfrm>
            <a:off x="9317736" y="2331720"/>
            <a:ext cx="224028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Automate</a:t>
            </a:r>
            <a:endParaRPr lang="en-US" sz="1700" dirty="0"/>
          </a:p>
        </p:txBody>
      </p:sp>
      <p:sp>
        <p:nvSpPr>
          <p:cNvPr id="23" name="Text 20"/>
          <p:cNvSpPr/>
          <p:nvPr/>
        </p:nvSpPr>
        <p:spPr>
          <a:xfrm>
            <a:off x="9317736" y="2834640"/>
            <a:ext cx="2240280" cy="1828800"/>
          </a:xfrm>
          <a:prstGeom prst="rect">
            <a:avLst/>
          </a:prstGeom>
          <a:noFill/>
          <a:ln/>
        </p:spPr>
        <p:txBody>
          <a:bodyPr wrap="square" rtlCol="0" anchor="ctr"/>
          <a:lstStyle/>
          <a:p>
            <a:pPr marL="0" indent="0">
              <a:lnSpc>
                <a:spcPct val="125000"/>
              </a:lnSpc>
              <a:buNone/>
            </a:pPr>
            <a:r>
              <a:rPr lang="en-US" sz="1150" dirty="0">
                <a:solidFill>
                  <a:srgbClr val="6B6B6B"/>
                </a:solidFill>
                <a:latin typeface="Calibri" pitchFamily="34" charset="0"/>
                <a:ea typeface="Calibri" pitchFamily="34" charset="-122"/>
                <a:cs typeface="Calibri" pitchFamily="34" charset="-120"/>
              </a:rPr>
              <a:t>Explore Power Query / API links to remove manual data entry entirely.</a:t>
            </a:r>
            <a:endParaRPr lang="en-US" sz="1150" dirty="0"/>
          </a:p>
        </p:txBody>
      </p:sp>
      <p:sp>
        <p:nvSpPr>
          <p:cNvPr id="24" name="Text 21"/>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9A9A9A"/>
                </a:solidFill>
                <a:latin typeface="Calibri" pitchFamily="34" charset="0"/>
                <a:ea typeface="Calibri" pitchFamily="34" charset="-122"/>
                <a:cs typeface="Calibri" pitchFamily="34" charset="-120"/>
              </a:rPr>
              <a:t>Sales Revenue Tracker System</a:t>
            </a:r>
            <a:endParaRPr lang="en-US" sz="900" dirty="0"/>
          </a:p>
        </p:txBody>
      </p:sp>
      <p:sp>
        <p:nvSpPr>
          <p:cNvPr id="25" name="Text 2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A9A9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3" name="Shape 0"/>
          <p:cNvSpPr/>
          <p:nvPr/>
        </p:nvSpPr>
        <p:spPr>
          <a:xfrm>
            <a:off x="-2286000" y="-2286000"/>
            <a:ext cx="5486400" cy="5486400"/>
          </a:xfrm>
          <a:prstGeom prst="ellipse">
            <a:avLst/>
          </a:prstGeom>
          <a:solidFill>
            <a:srgbClr val="263572"/>
          </a:solidFill>
          <a:ln/>
        </p:spPr>
      </p:sp>
      <p:sp>
        <p:nvSpPr>
          <p:cNvPr id="4" name="Shape 1"/>
          <p:cNvSpPr/>
          <p:nvPr/>
        </p:nvSpPr>
        <p:spPr>
          <a:xfrm>
            <a:off x="9875520" y="4114800"/>
            <a:ext cx="5029200" cy="5029200"/>
          </a:xfrm>
          <a:prstGeom prst="ellipse">
            <a:avLst/>
          </a:prstGeom>
          <a:solidFill>
            <a:srgbClr val="263572"/>
          </a:solidFill>
          <a:ln/>
        </p:spPr>
      </p:sp>
      <p:sp>
        <p:nvSpPr>
          <p:cNvPr id="5" name="Text 2"/>
          <p:cNvSpPr/>
          <p:nvPr/>
        </p:nvSpPr>
        <p:spPr>
          <a:xfrm>
            <a:off x="0" y="2468880"/>
            <a:ext cx="12161520"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1508760" y="3337560"/>
            <a:ext cx="9144000" cy="457200"/>
          </a:xfrm>
          <a:prstGeom prst="rect">
            <a:avLst/>
          </a:prstGeom>
          <a:noFill/>
          <a:ln/>
        </p:spPr>
        <p:txBody>
          <a:bodyPr wrap="square"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Questions &amp; feedback welcome — the workbook and this deck are ready for review.</a:t>
            </a:r>
            <a:endParaRPr lang="en-US" sz="1400" dirty="0"/>
          </a:p>
        </p:txBody>
      </p:sp>
      <p:sp>
        <p:nvSpPr>
          <p:cNvPr id="7" name="Text 4"/>
          <p:cNvSpPr/>
          <p:nvPr/>
        </p:nvSpPr>
        <p:spPr>
          <a:xfrm>
            <a:off x="0" y="4114800"/>
            <a:ext cx="12161520" cy="1097280"/>
          </a:xfrm>
          <a:prstGeom prst="rect">
            <a:avLst/>
          </a:prstGeom>
          <a:noFill/>
          <a:ln/>
        </p:spPr>
        <p:txBody>
          <a:bodyPr wrap="square" rtlCol="0" anchor="ctr"/>
          <a:lstStyle/>
          <a:p>
            <a:pPr marL="0" indent="0" algn="ctr">
              <a:lnSpc>
                <a:spcPct val="140000"/>
              </a:lnSpc>
              <a:buNone/>
            </a:pPr>
            <a:r>
              <a:rPr lang="en-US" sz="1200" b="1" dirty="0">
                <a:solidFill>
                  <a:srgbClr val="FFFFFF"/>
                </a:solidFill>
                <a:latin typeface="Calibri" pitchFamily="34" charset="0"/>
                <a:ea typeface="Calibri" pitchFamily="34" charset="-122"/>
                <a:cs typeface="Calibri" pitchFamily="34" charset="-120"/>
              </a:rPr>
              <a:t>Sales Operations Team</a:t>
            </a:r>
            <a:endParaRPr lang="en-US" sz="1200" dirty="0"/>
          </a:p>
          <a:p>
            <a:pPr marL="0" indent="0" algn="ctr">
              <a:lnSpc>
                <a:spcPct val="140000"/>
              </a:lnSpc>
              <a:buNone/>
            </a:pPr>
            <a:r>
              <a:rPr lang="en-US" sz="1200" dirty="0">
                <a:solidFill>
                  <a:srgbClr val="FFFFFF"/>
                </a:solidFill>
                <a:latin typeface="Calibri" pitchFamily="34" charset="0"/>
                <a:ea typeface="Calibri" pitchFamily="34" charset="-122"/>
                <a:cs typeface="Calibri" pitchFamily="34" charset="-120"/>
              </a:rPr>
              <a:t>Sales_Revenue_Tracker.xlsx  |  Sales_Revenue_Tracker.pptx</a:t>
            </a:r>
            <a:endParaRPr lang="en-US" sz="1200" dirty="0"/>
          </a:p>
          <a:p>
            <a:pPr marL="0" indent="0" algn="ctr">
              <a:lnSpc>
                <a:spcPct val="140000"/>
              </a:lnSpc>
              <a:buNone/>
            </a:pPr>
            <a:r>
              <a:rPr lang="en-US" sz="1200" dirty="0">
                <a:solidFill>
                  <a:srgbClr val="FFFFFF"/>
                </a:solidFill>
                <a:latin typeface="Calibri" pitchFamily="34" charset="0"/>
                <a:ea typeface="Calibri" pitchFamily="34" charset="-122"/>
                <a:cs typeface="Calibri" pitchFamily="34" charset="-120"/>
              </a:rPr>
              <a:t>3 July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1667</Words>
  <Application>Microsoft Office PowerPoint</Application>
  <PresentationFormat>Widescreen</PresentationFormat>
  <Paragraphs>194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Revenue Tracker System</dc:title>
  <dc:subject>PptxGenJS Presentation</dc:subject>
  <dc:creator>Sales Operations</dc:creator>
  <cp:lastModifiedBy>Indraditya Bhattacharyya</cp:lastModifiedBy>
  <cp:revision>1</cp:revision>
  <dcterms:created xsi:type="dcterms:W3CDTF">2026-07-03T13:59:50Z</dcterms:created>
  <dcterms:modified xsi:type="dcterms:W3CDTF">2026-07-03T14:05:47Z</dcterms:modified>
</cp:coreProperties>
</file>